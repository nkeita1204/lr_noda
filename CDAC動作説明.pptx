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0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25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35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297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06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08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92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2064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30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68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4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60852-72A0-43C7-B7AC-2DE2A82D4393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8A61C-C5E2-439F-9D00-A6F305FA1F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29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8FB5D1-7B3C-6FF5-9E6C-45F91C531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800" dirty="0"/>
              <a:t>12bit</a:t>
            </a:r>
            <a:r>
              <a:rPr kumimoji="1" lang="ja-JP" altLang="en-US" sz="4800" dirty="0"/>
              <a:t>キャパシタ型</a:t>
            </a:r>
            <a:r>
              <a:rPr kumimoji="1" lang="en-US" altLang="ja-JP" sz="4800" dirty="0"/>
              <a:t>DAC</a:t>
            </a:r>
            <a:br>
              <a:rPr kumimoji="1" lang="en-US" altLang="ja-JP" sz="4800" dirty="0"/>
            </a:br>
            <a:r>
              <a:rPr kumimoji="1" lang="ja-JP" altLang="en-US" sz="4800" dirty="0"/>
              <a:t>動作説明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6605D3-926C-156B-9162-B5729CAE54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野田慶太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3803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5D9DA-60AC-E2B9-9700-6AE27802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CDAC</a:t>
            </a:r>
            <a:r>
              <a:rPr lang="ja-JP" altLang="en-US" dirty="0"/>
              <a:t>アナログ部構成</a:t>
            </a:r>
            <a:endParaRPr kumimoji="1" lang="ja-JP" altLang="en-US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18846261-2285-4ED1-3219-36D6A21CC97A}"/>
              </a:ext>
            </a:extLst>
          </p:cNvPr>
          <p:cNvGrpSpPr/>
          <p:nvPr/>
        </p:nvGrpSpPr>
        <p:grpSpPr>
          <a:xfrm>
            <a:off x="301277" y="1172054"/>
            <a:ext cx="8541446" cy="3621068"/>
            <a:chOff x="301277" y="1476854"/>
            <a:chExt cx="8541446" cy="362106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FFA03E5-E2F4-FB2C-C8DD-21E2DEB64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277" y="1476854"/>
              <a:ext cx="8541446" cy="3397548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E26E34F-A2ED-113B-74E4-EDD4372AF36B}"/>
                </a:ext>
              </a:extLst>
            </p:cNvPr>
            <p:cNvSpPr/>
            <p:nvPr/>
          </p:nvSpPr>
          <p:spPr>
            <a:xfrm>
              <a:off x="62865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3127B75-0C2F-6E6F-CB45-AD7CCDBE1841}"/>
                </a:ext>
              </a:extLst>
            </p:cNvPr>
            <p:cNvSpPr/>
            <p:nvPr/>
          </p:nvSpPr>
          <p:spPr>
            <a:xfrm>
              <a:off x="165989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F764C5C-F8C2-2586-7EF9-11FD8A65342E}"/>
                </a:ext>
              </a:extLst>
            </p:cNvPr>
            <p:cNvSpPr/>
            <p:nvPr/>
          </p:nvSpPr>
          <p:spPr>
            <a:xfrm>
              <a:off x="276225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20314C7D-9662-8346-BE78-2A389AA0C28D}"/>
                </a:ext>
              </a:extLst>
            </p:cNvPr>
            <p:cNvSpPr/>
            <p:nvPr/>
          </p:nvSpPr>
          <p:spPr>
            <a:xfrm>
              <a:off x="480441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1DA1B37-C0F4-8ECF-F58D-5B0C9ADBDF96}"/>
                </a:ext>
              </a:extLst>
            </p:cNvPr>
            <p:cNvSpPr/>
            <p:nvPr/>
          </p:nvSpPr>
          <p:spPr>
            <a:xfrm>
              <a:off x="574421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ACF9C22-0758-1741-5771-BF8FB9CE7870}"/>
                </a:ext>
              </a:extLst>
            </p:cNvPr>
            <p:cNvSpPr/>
            <p:nvPr/>
          </p:nvSpPr>
          <p:spPr>
            <a:xfrm>
              <a:off x="1005840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C4797B10-1A57-5DC3-FCCC-CE38BD85AC66}"/>
                </a:ext>
              </a:extLst>
            </p:cNvPr>
            <p:cNvSpPr/>
            <p:nvPr/>
          </p:nvSpPr>
          <p:spPr>
            <a:xfrm>
              <a:off x="202120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86C08D6-52C6-4E2F-1ABA-62A80814C458}"/>
                </a:ext>
              </a:extLst>
            </p:cNvPr>
            <p:cNvSpPr/>
            <p:nvPr/>
          </p:nvSpPr>
          <p:spPr>
            <a:xfrm>
              <a:off x="314515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CCED3B74-EEA9-78B2-05DE-50F429C303EB}"/>
                </a:ext>
              </a:extLst>
            </p:cNvPr>
            <p:cNvSpPr/>
            <p:nvPr/>
          </p:nvSpPr>
          <p:spPr>
            <a:xfrm>
              <a:off x="614870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1B1E82A-908E-960D-F3A4-CBDEA27C9088}"/>
                </a:ext>
              </a:extLst>
            </p:cNvPr>
            <p:cNvSpPr/>
            <p:nvPr/>
          </p:nvSpPr>
          <p:spPr>
            <a:xfrm>
              <a:off x="518731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A14F9BE-9CA8-1431-F2EB-F3D9E2016259}"/>
                </a:ext>
              </a:extLst>
            </p:cNvPr>
            <p:cNvSpPr/>
            <p:nvPr/>
          </p:nvSpPr>
          <p:spPr>
            <a:xfrm>
              <a:off x="687895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749E2C37-D2E0-8798-A3FE-E336E8CF9822}"/>
                </a:ext>
              </a:extLst>
            </p:cNvPr>
            <p:cNvSpPr/>
            <p:nvPr/>
          </p:nvSpPr>
          <p:spPr>
            <a:xfrm>
              <a:off x="7945755" y="26822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2B5B88F-A7DC-5262-DF5F-EC05AA6D6EFA}"/>
                </a:ext>
              </a:extLst>
            </p:cNvPr>
            <p:cNvSpPr/>
            <p:nvPr/>
          </p:nvSpPr>
          <p:spPr>
            <a:xfrm>
              <a:off x="7596716" y="4650882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C304607-F66F-D350-18CE-F85A3128A44E}"/>
                </a:ext>
              </a:extLst>
            </p:cNvPr>
            <p:cNvSpPr/>
            <p:nvPr/>
          </p:nvSpPr>
          <p:spPr>
            <a:xfrm>
              <a:off x="8119745" y="4650882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519C462-FFD9-951D-A0FC-D95F82B123BD}"/>
              </a:ext>
            </a:extLst>
          </p:cNvPr>
          <p:cNvSpPr txBox="1"/>
          <p:nvPr/>
        </p:nvSpPr>
        <p:spPr>
          <a:xfrm>
            <a:off x="7306733" y="4845966"/>
            <a:ext cx="98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PMOS</a:t>
            </a:r>
            <a:endParaRPr kumimoji="1"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6F586FE-97B0-0F23-E900-E3D490F7C754}"/>
              </a:ext>
            </a:extLst>
          </p:cNvPr>
          <p:cNvSpPr txBox="1"/>
          <p:nvPr/>
        </p:nvSpPr>
        <p:spPr>
          <a:xfrm>
            <a:off x="7945755" y="4845966"/>
            <a:ext cx="98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NMOS</a:t>
            </a:r>
            <a:endParaRPr kumimoji="1" lang="ja-JP" altLang="en-US" sz="12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9E606BF-027E-CCDF-514D-CB3F52370FE4}"/>
              </a:ext>
            </a:extLst>
          </p:cNvPr>
          <p:cNvSpPr txBox="1"/>
          <p:nvPr/>
        </p:nvSpPr>
        <p:spPr>
          <a:xfrm>
            <a:off x="502783" y="4793122"/>
            <a:ext cx="65449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・全ビットで</a:t>
            </a:r>
            <a:r>
              <a:rPr kumimoji="1" lang="en-US" altLang="ja-JP" sz="1400" dirty="0" err="1"/>
              <a:t>Ron×C</a:t>
            </a:r>
            <a:r>
              <a:rPr kumimoji="1" lang="ja-JP" altLang="en-US" sz="1400" dirty="0"/>
              <a:t>を一定とするため、容量と同じ倍数</a:t>
            </a:r>
            <a:r>
              <a:rPr kumimoji="1" lang="en-US" altLang="ja-JP" sz="1400" dirty="0"/>
              <a:t>SW</a:t>
            </a:r>
            <a:r>
              <a:rPr kumimoji="1" lang="ja-JP" altLang="en-US" sz="1400" dirty="0"/>
              <a:t>を並列化</a:t>
            </a:r>
            <a:endParaRPr kumimoji="1" lang="en-US" altLang="ja-JP" sz="1400" dirty="0"/>
          </a:p>
          <a:p>
            <a:r>
              <a:rPr kumimoji="1" lang="ja-JP" altLang="en-US" sz="1400" dirty="0"/>
              <a:t>・</a:t>
            </a:r>
            <a:r>
              <a:rPr kumimoji="1" lang="en-US" altLang="ja-JP" sz="1400" dirty="0"/>
              <a:t>SW</a:t>
            </a:r>
            <a:r>
              <a:rPr kumimoji="1" lang="ja-JP" altLang="en-US" sz="1400" dirty="0"/>
              <a:t>のサイズは全て同じ</a:t>
            </a:r>
            <a:endParaRPr kumimoji="1" lang="en-US" altLang="ja-JP" sz="1400" dirty="0"/>
          </a:p>
          <a:p>
            <a:r>
              <a:rPr kumimoji="1" lang="ja-JP" altLang="en-US" sz="1400" dirty="0"/>
              <a:t>・</a:t>
            </a:r>
            <a:r>
              <a:rPr kumimoji="1" lang="en-US" altLang="ja-JP" sz="1400" dirty="0"/>
              <a:t>DUMMY</a:t>
            </a:r>
            <a:r>
              <a:rPr kumimoji="1" lang="ja-JP" altLang="en-US" sz="1400" dirty="0"/>
              <a:t>のスイッチは常時</a:t>
            </a:r>
            <a:r>
              <a:rPr kumimoji="1" lang="en-US" altLang="ja-JP" sz="1400" dirty="0"/>
              <a:t>ON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D9713F2-4233-7023-F50B-1B28CB3AF1D0}"/>
              </a:ext>
            </a:extLst>
          </p:cNvPr>
          <p:cNvSpPr txBox="1"/>
          <p:nvPr/>
        </p:nvSpPr>
        <p:spPr>
          <a:xfrm>
            <a:off x="3949245" y="2381012"/>
            <a:ext cx="1029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939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A66D-95C0-EE29-CAFB-688E353E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5064F2-6BCC-B306-9D8C-3B4B9EA4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CDAC</a:t>
            </a:r>
            <a:r>
              <a:rPr lang="ja-JP" altLang="en-US" dirty="0"/>
              <a:t>デジタル部構成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CBC4A1-B4F5-54E2-0565-DAC2B4B68B0B}"/>
              </a:ext>
            </a:extLst>
          </p:cNvPr>
          <p:cNvSpPr txBox="1"/>
          <p:nvPr/>
        </p:nvSpPr>
        <p:spPr>
          <a:xfrm>
            <a:off x="2777068" y="1341736"/>
            <a:ext cx="162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ノンオーバーラップ</a:t>
            </a:r>
            <a:endParaRPr kumimoji="1" lang="en-US" altLang="ja-JP" sz="1200" dirty="0">
              <a:solidFill>
                <a:srgbClr val="FF0000"/>
              </a:solidFill>
            </a:endParaRPr>
          </a:p>
          <a:p>
            <a:r>
              <a:rPr kumimoji="1" lang="ja-JP" altLang="en-US" sz="1200" dirty="0">
                <a:solidFill>
                  <a:srgbClr val="FF0000"/>
                </a:solidFill>
              </a:rPr>
              <a:t>クロック生成回路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F37299-D0A2-45C4-EA9D-7A56A30BEE37}"/>
              </a:ext>
            </a:extLst>
          </p:cNvPr>
          <p:cNvSpPr txBox="1"/>
          <p:nvPr/>
        </p:nvSpPr>
        <p:spPr>
          <a:xfrm>
            <a:off x="5496682" y="1572568"/>
            <a:ext cx="2302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IMPLY</a:t>
            </a:r>
            <a:r>
              <a:rPr kumimoji="1" lang="ja-JP" altLang="en-US" sz="1200" dirty="0">
                <a:solidFill>
                  <a:srgbClr val="FF0000"/>
                </a:solidFill>
              </a:rPr>
              <a:t>ゲート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5F4ADC-7560-5A55-4E07-103C9C662D4F}"/>
              </a:ext>
            </a:extLst>
          </p:cNvPr>
          <p:cNvSpPr txBox="1"/>
          <p:nvPr/>
        </p:nvSpPr>
        <p:spPr>
          <a:xfrm>
            <a:off x="1286933" y="4851405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デジタル入力を反転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834553-45F6-2582-DE02-249046B980A2}"/>
              </a:ext>
            </a:extLst>
          </p:cNvPr>
          <p:cNvSpPr txBox="1"/>
          <p:nvPr/>
        </p:nvSpPr>
        <p:spPr>
          <a:xfrm>
            <a:off x="3556000" y="4845974"/>
            <a:ext cx="2396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PMOS</a:t>
            </a:r>
            <a:r>
              <a:rPr kumimoji="1" lang="ja-JP" altLang="en-US" sz="1200" dirty="0">
                <a:solidFill>
                  <a:srgbClr val="FF0000"/>
                </a:solidFill>
              </a:rPr>
              <a:t>スイッチの制御信号生成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95FCD3-0E90-5879-6FCC-0E3BC6904018}"/>
              </a:ext>
            </a:extLst>
          </p:cNvPr>
          <p:cNvSpPr txBox="1"/>
          <p:nvPr/>
        </p:nvSpPr>
        <p:spPr>
          <a:xfrm>
            <a:off x="6316136" y="4845974"/>
            <a:ext cx="2396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NMOS</a:t>
            </a:r>
            <a:r>
              <a:rPr kumimoji="1" lang="ja-JP" altLang="en-US" sz="1200" dirty="0">
                <a:solidFill>
                  <a:srgbClr val="FF0000"/>
                </a:solidFill>
              </a:rPr>
              <a:t>スイッチの制御信号生成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F29AD42-07C4-B8B7-FFA8-1ED71ADADFBA}"/>
              </a:ext>
            </a:extLst>
          </p:cNvPr>
          <p:cNvSpPr txBox="1"/>
          <p:nvPr/>
        </p:nvSpPr>
        <p:spPr>
          <a:xfrm>
            <a:off x="618066" y="5249333"/>
            <a:ext cx="8525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PMOS</a:t>
            </a:r>
            <a:r>
              <a:rPr kumimoji="1" lang="ja-JP" altLang="en-US" sz="1600" dirty="0"/>
              <a:t>スイッチ</a:t>
            </a:r>
            <a:r>
              <a:rPr kumimoji="1" lang="en-US" altLang="ja-JP" sz="1600" dirty="0"/>
              <a:t>:CLK1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High</a:t>
            </a:r>
            <a:r>
              <a:rPr kumimoji="1" lang="ja-JP" altLang="en-US" sz="1600" dirty="0"/>
              <a:t>かつ</a:t>
            </a:r>
            <a:r>
              <a:rPr kumimoji="1" lang="en-US" altLang="ja-JP" sz="1600" dirty="0"/>
              <a:t>D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High</a:t>
            </a:r>
            <a:r>
              <a:rPr kumimoji="1" lang="ja-JP" altLang="en-US" sz="1600" dirty="0"/>
              <a:t>のときのみ</a:t>
            </a:r>
            <a:r>
              <a:rPr kumimoji="1" lang="en-US" altLang="ja-JP" sz="1600" dirty="0"/>
              <a:t>ON</a:t>
            </a:r>
          </a:p>
          <a:p>
            <a:r>
              <a:rPr kumimoji="1" lang="en-US" altLang="ja-JP" sz="1600" dirty="0"/>
              <a:t>NMOS</a:t>
            </a:r>
            <a:r>
              <a:rPr kumimoji="1" lang="ja-JP" altLang="en-US" sz="1600" dirty="0"/>
              <a:t>スイッチ</a:t>
            </a:r>
            <a:r>
              <a:rPr kumimoji="1" lang="en-US" altLang="ja-JP" sz="1600" dirty="0"/>
              <a:t>:CLK2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Low</a:t>
            </a:r>
            <a:r>
              <a:rPr kumimoji="1" lang="ja-JP" altLang="en-US" sz="1600" dirty="0"/>
              <a:t>のとき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リセット中</a:t>
            </a:r>
            <a:r>
              <a:rPr kumimoji="1" lang="en-US" altLang="ja-JP" sz="1600" dirty="0"/>
              <a:t>)</a:t>
            </a:r>
            <a:r>
              <a:rPr kumimoji="1" lang="ja-JP" altLang="en-US" sz="1600" dirty="0"/>
              <a:t>、または</a:t>
            </a:r>
            <a:r>
              <a:rPr kumimoji="1" lang="en-US" altLang="ja-JP" sz="1600" dirty="0"/>
              <a:t>D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Low</a:t>
            </a:r>
            <a:r>
              <a:rPr kumimoji="1" lang="ja-JP" altLang="en-US" sz="1600" dirty="0"/>
              <a:t>のとき</a:t>
            </a:r>
            <a:r>
              <a:rPr kumimoji="1" lang="en-US" altLang="ja-JP" sz="1600" dirty="0"/>
              <a:t>ON</a:t>
            </a:r>
            <a:endParaRPr kumimoji="1" lang="ja-JP" altLang="en-US" sz="1600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6BCEA704-8B6A-F7CE-C191-45079C06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17" y="1793230"/>
            <a:ext cx="7082366" cy="3052744"/>
          </a:xfrm>
          <a:prstGeom prst="rect">
            <a:avLst/>
          </a:prstGeom>
        </p:spPr>
      </p:pic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1D93B1AA-0293-504E-1498-9DECEB775756}"/>
              </a:ext>
            </a:extLst>
          </p:cNvPr>
          <p:cNvGrpSpPr/>
          <p:nvPr/>
        </p:nvGrpSpPr>
        <p:grpSpPr>
          <a:xfrm>
            <a:off x="628650" y="5890621"/>
            <a:ext cx="1630680" cy="906419"/>
            <a:chOff x="1187343" y="5951581"/>
            <a:chExt cx="1630680" cy="906419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E89DEB6F-5EF9-CB86-A745-1DF45931FD40}"/>
                </a:ext>
              </a:extLst>
            </p:cNvPr>
            <p:cNvGrpSpPr/>
            <p:nvPr/>
          </p:nvGrpSpPr>
          <p:grpSpPr>
            <a:xfrm>
              <a:off x="1286933" y="5951581"/>
              <a:ext cx="1049867" cy="571772"/>
              <a:chOff x="1320800" y="5829028"/>
              <a:chExt cx="1049867" cy="571772"/>
            </a:xfrm>
          </p:grpSpPr>
          <p:cxnSp>
            <p:nvCxnSpPr>
              <p:cNvPr id="20" name="コネクタ: カギ線 19">
                <a:extLst>
                  <a:ext uri="{FF2B5EF4-FFF2-40B4-BE49-F238E27FC236}">
                    <a16:creationId xmlns:a16="http://schemas.microsoft.com/office/drawing/2014/main" id="{413433D0-D236-94D6-951E-9678323249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5533" y="5834108"/>
                <a:ext cx="855134" cy="566692"/>
              </a:xfrm>
              <a:prstGeom prst="bentConnector3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5543F237-C7E6-BFC0-C949-03D5942292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0613" y="5829028"/>
                <a:ext cx="0" cy="57177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222E284-AAB5-69A5-6EB6-7CFD5D3F87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0800" y="6400800"/>
                <a:ext cx="20997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7CF3183E-DCB1-E62F-352D-2544C2B589A0}"/>
                </a:ext>
              </a:extLst>
            </p:cNvPr>
            <p:cNvGrpSpPr/>
            <p:nvPr/>
          </p:nvGrpSpPr>
          <p:grpSpPr>
            <a:xfrm>
              <a:off x="1286933" y="5951581"/>
              <a:ext cx="1049867" cy="571772"/>
              <a:chOff x="1320800" y="5829028"/>
              <a:chExt cx="1049867" cy="571772"/>
            </a:xfrm>
          </p:grpSpPr>
          <p:cxnSp>
            <p:nvCxnSpPr>
              <p:cNvPr id="32" name="コネクタ: カギ線 31">
                <a:extLst>
                  <a:ext uri="{FF2B5EF4-FFF2-40B4-BE49-F238E27FC236}">
                    <a16:creationId xmlns:a16="http://schemas.microsoft.com/office/drawing/2014/main" id="{39A2A986-E23C-7038-7935-4DA4DE9A0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5533" y="5834108"/>
                <a:ext cx="855134" cy="566692"/>
              </a:xfrm>
              <a:prstGeom prst="bentConnector3">
                <a:avLst>
                  <a:gd name="adj1" fmla="val 64257"/>
                </a:avLst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70D85F40-B06A-1A21-BDA4-51D8E4493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0613" y="5829028"/>
                <a:ext cx="0" cy="571772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9932708D-8B44-5CD2-EEC1-C1EC97BE1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0800" y="6400800"/>
                <a:ext cx="209973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A53780F-06F2-8AA9-B8AE-4771F03C6404}"/>
                </a:ext>
              </a:extLst>
            </p:cNvPr>
            <p:cNvSpPr txBox="1"/>
            <p:nvPr/>
          </p:nvSpPr>
          <p:spPr>
            <a:xfrm>
              <a:off x="1456901" y="6127625"/>
              <a:ext cx="6383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solidFill>
                    <a:srgbClr val="0070C0"/>
                  </a:solidFill>
                </a:rPr>
                <a:t>CLK1</a:t>
              </a:r>
              <a:endParaRPr kumimoji="1" lang="ja-JP" altLang="en-US" sz="1100" dirty="0">
                <a:solidFill>
                  <a:srgbClr val="0070C0"/>
                </a:solidFill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3C69827-3646-5C83-2781-B306AE65AAFA}"/>
                </a:ext>
              </a:extLst>
            </p:cNvPr>
            <p:cNvSpPr txBox="1"/>
            <p:nvPr/>
          </p:nvSpPr>
          <p:spPr>
            <a:xfrm>
              <a:off x="2002683" y="6127494"/>
              <a:ext cx="6383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solidFill>
                    <a:srgbClr val="FF0000"/>
                  </a:solidFill>
                </a:rPr>
                <a:t>CLK2</a:t>
              </a:r>
              <a:endParaRPr kumimoji="1" lang="ja-JP" altLang="en-US" sz="1100" dirty="0">
                <a:solidFill>
                  <a:srgbClr val="FF0000"/>
                </a:solidFill>
              </a:endParaRPr>
            </a:p>
          </p:txBody>
        </p: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EFAE0A0D-DF01-E673-21AF-3D446D323824}"/>
                </a:ext>
              </a:extLst>
            </p:cNvPr>
            <p:cNvCxnSpPr/>
            <p:nvPr/>
          </p:nvCxnSpPr>
          <p:spPr>
            <a:xfrm>
              <a:off x="1879916" y="6609080"/>
              <a:ext cx="1860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C62C2EA-A05C-86FD-22C6-71826BD28250}"/>
                </a:ext>
              </a:extLst>
            </p:cNvPr>
            <p:cNvSpPr txBox="1"/>
            <p:nvPr/>
          </p:nvSpPr>
          <p:spPr>
            <a:xfrm>
              <a:off x="1187343" y="6611779"/>
              <a:ext cx="16306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000" dirty="0">
                  <a:solidFill>
                    <a:srgbClr val="0070C0"/>
                  </a:solidFill>
                </a:rPr>
                <a:t>ノンオーバーラップ期間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139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E8D659-9688-8C4C-28CF-870EBB8B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動作原理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C3D67DB-E45F-D33F-BCD8-BB352342AAB8}"/>
              </a:ext>
            </a:extLst>
          </p:cNvPr>
          <p:cNvGrpSpPr/>
          <p:nvPr/>
        </p:nvGrpSpPr>
        <p:grpSpPr>
          <a:xfrm>
            <a:off x="301277" y="1256720"/>
            <a:ext cx="8541446" cy="3397548"/>
            <a:chOff x="301277" y="1476854"/>
            <a:chExt cx="8541446" cy="339754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B8C30999-E9F7-B83E-413A-05CCF5BD6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277" y="1476854"/>
              <a:ext cx="8541446" cy="3397548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DA11EC3-94DB-58C3-8C87-1F1C00B05B54}"/>
                </a:ext>
              </a:extLst>
            </p:cNvPr>
            <p:cNvSpPr/>
            <p:nvPr/>
          </p:nvSpPr>
          <p:spPr>
            <a:xfrm>
              <a:off x="62865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ACB88AA-6AC4-27F4-12F4-D816D9A98605}"/>
                </a:ext>
              </a:extLst>
            </p:cNvPr>
            <p:cNvSpPr/>
            <p:nvPr/>
          </p:nvSpPr>
          <p:spPr>
            <a:xfrm>
              <a:off x="165989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ADA6233-2F0F-CF45-49F1-74DA5D6D0514}"/>
                </a:ext>
              </a:extLst>
            </p:cNvPr>
            <p:cNvSpPr/>
            <p:nvPr/>
          </p:nvSpPr>
          <p:spPr>
            <a:xfrm>
              <a:off x="276225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B626F13-5FAE-138E-7EFE-53483B3E817A}"/>
                </a:ext>
              </a:extLst>
            </p:cNvPr>
            <p:cNvSpPr/>
            <p:nvPr/>
          </p:nvSpPr>
          <p:spPr>
            <a:xfrm>
              <a:off x="480441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52C6A23-DECB-FA48-627F-F144B79C9570}"/>
                </a:ext>
              </a:extLst>
            </p:cNvPr>
            <p:cNvSpPr/>
            <p:nvPr/>
          </p:nvSpPr>
          <p:spPr>
            <a:xfrm>
              <a:off x="5744210" y="3241040"/>
              <a:ext cx="173990" cy="447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3FD6FAD8-A535-B209-8F80-090C8417BC14}"/>
                </a:ext>
              </a:extLst>
            </p:cNvPr>
            <p:cNvSpPr/>
            <p:nvPr/>
          </p:nvSpPr>
          <p:spPr>
            <a:xfrm>
              <a:off x="1005840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FE0B139-C14B-6E87-F7E9-AD1E25138511}"/>
                </a:ext>
              </a:extLst>
            </p:cNvPr>
            <p:cNvSpPr/>
            <p:nvPr/>
          </p:nvSpPr>
          <p:spPr>
            <a:xfrm>
              <a:off x="202120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14176DFB-E33C-20D2-3BF2-542CB967FE59}"/>
                </a:ext>
              </a:extLst>
            </p:cNvPr>
            <p:cNvSpPr/>
            <p:nvPr/>
          </p:nvSpPr>
          <p:spPr>
            <a:xfrm>
              <a:off x="314515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8E40C42-57A4-8BDF-C28F-413E441D9DA9}"/>
                </a:ext>
              </a:extLst>
            </p:cNvPr>
            <p:cNvSpPr/>
            <p:nvPr/>
          </p:nvSpPr>
          <p:spPr>
            <a:xfrm>
              <a:off x="614870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9DB3C40-7AAA-854F-C59B-75E5D34EBB91}"/>
                </a:ext>
              </a:extLst>
            </p:cNvPr>
            <p:cNvSpPr/>
            <p:nvPr/>
          </p:nvSpPr>
          <p:spPr>
            <a:xfrm>
              <a:off x="518731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3B37948-F65C-4D9B-20C7-1DF7A62D2A3A}"/>
                </a:ext>
              </a:extLst>
            </p:cNvPr>
            <p:cNvSpPr/>
            <p:nvPr/>
          </p:nvSpPr>
          <p:spPr>
            <a:xfrm>
              <a:off x="6878955" y="32410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161B04D-8AFE-FECC-2CEA-443C6D56600F}"/>
                </a:ext>
              </a:extLst>
            </p:cNvPr>
            <p:cNvSpPr/>
            <p:nvPr/>
          </p:nvSpPr>
          <p:spPr>
            <a:xfrm>
              <a:off x="7945755" y="2682240"/>
              <a:ext cx="173990" cy="44704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8BEB2E9-D3A1-6058-C6E0-4D3B96ADD4AF}"/>
              </a:ext>
            </a:extLst>
          </p:cNvPr>
          <p:cNvSpPr txBox="1"/>
          <p:nvPr/>
        </p:nvSpPr>
        <p:spPr>
          <a:xfrm>
            <a:off x="628650" y="4978400"/>
            <a:ext cx="8515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リセット期間</a:t>
            </a:r>
            <a:r>
              <a:rPr kumimoji="1" lang="en-US" altLang="ja-JP" sz="1600" dirty="0"/>
              <a:t>:NMOS</a:t>
            </a:r>
            <a:r>
              <a:rPr kumimoji="1" lang="ja-JP" altLang="en-US" sz="1600" dirty="0"/>
              <a:t>スイッチを全て</a:t>
            </a:r>
            <a:r>
              <a:rPr kumimoji="1" lang="en-US" altLang="ja-JP" sz="1600" dirty="0"/>
              <a:t>ON</a:t>
            </a:r>
            <a:r>
              <a:rPr kumimoji="1" lang="ja-JP" altLang="en-US" sz="1600" dirty="0"/>
              <a:t>にする→</a:t>
            </a:r>
            <a:r>
              <a:rPr kumimoji="1" lang="en-US" altLang="ja-JP" sz="1600" dirty="0"/>
              <a:t>C</a:t>
            </a:r>
            <a:r>
              <a:rPr kumimoji="1" lang="ja-JP" altLang="en-US" sz="1600" dirty="0"/>
              <a:t>の電位差が無くなる→電荷リセット</a:t>
            </a:r>
            <a:endParaRPr kumimoji="1" lang="en-US" altLang="ja-JP" sz="1600" dirty="0"/>
          </a:p>
          <a:p>
            <a:r>
              <a:rPr kumimoji="1" lang="ja-JP" altLang="en-US" sz="1600" dirty="0"/>
              <a:t>　　　⇅</a:t>
            </a:r>
            <a:r>
              <a:rPr kumimoji="1" lang="ja-JP" altLang="en-US" sz="1600" dirty="0">
                <a:solidFill>
                  <a:srgbClr val="FF0000"/>
                </a:solidFill>
              </a:rPr>
              <a:t>繰り返し</a:t>
            </a:r>
            <a:endParaRPr kumimoji="1" lang="en-US" altLang="ja-JP" sz="1600" dirty="0">
              <a:solidFill>
                <a:srgbClr val="FF0000"/>
              </a:solidFill>
            </a:endParaRPr>
          </a:p>
          <a:p>
            <a:r>
              <a:rPr kumimoji="1" lang="ja-JP" altLang="en-US" sz="1600" dirty="0"/>
              <a:t>電荷再配分期間</a:t>
            </a:r>
            <a:r>
              <a:rPr kumimoji="1" lang="en-US" altLang="ja-JP" sz="1600" dirty="0"/>
              <a:t>:</a:t>
            </a:r>
            <a:r>
              <a:rPr kumimoji="1" lang="en-US" altLang="ja-JP" sz="1600" dirty="0" err="1"/>
              <a:t>Reset_PD</a:t>
            </a:r>
            <a:r>
              <a:rPr kumimoji="1" lang="ja-JP" altLang="en-US" sz="1600" dirty="0"/>
              <a:t>は</a:t>
            </a:r>
            <a:r>
              <a:rPr kumimoji="1" lang="en-US" altLang="ja-JP" sz="1600" dirty="0"/>
              <a:t>OFF</a:t>
            </a:r>
            <a:r>
              <a:rPr kumimoji="1" lang="ja-JP" altLang="en-US" sz="1600" dirty="0"/>
              <a:t>、デジタル値が</a:t>
            </a:r>
            <a:r>
              <a:rPr kumimoji="1" lang="en-US" altLang="ja-JP" sz="1600" dirty="0"/>
              <a:t>High</a:t>
            </a:r>
            <a:r>
              <a:rPr kumimoji="1" lang="ja-JP" altLang="en-US" sz="1600" dirty="0"/>
              <a:t>のときは</a:t>
            </a:r>
            <a:r>
              <a:rPr kumimoji="1" lang="en-US" altLang="ja-JP" sz="1600" dirty="0"/>
              <a:t>PMOS</a:t>
            </a:r>
            <a:r>
              <a:rPr kumimoji="1" lang="ja-JP" altLang="en-US" sz="1600" dirty="0"/>
              <a:t>、</a:t>
            </a:r>
            <a:r>
              <a:rPr kumimoji="1" lang="en-US" altLang="ja-JP" sz="1600" dirty="0"/>
              <a:t>Low</a:t>
            </a:r>
            <a:r>
              <a:rPr kumimoji="1" lang="ja-JP" altLang="en-US" sz="1600" dirty="0"/>
              <a:t>のときは</a:t>
            </a:r>
            <a:r>
              <a:rPr kumimoji="1" lang="en-US" altLang="ja-JP" sz="1600" dirty="0"/>
              <a:t>NMOS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ON</a:t>
            </a:r>
            <a:r>
              <a:rPr kumimoji="1" lang="ja-JP" altLang="en-US" sz="1600" dirty="0"/>
              <a:t>になり、</a:t>
            </a:r>
            <a:r>
              <a:rPr kumimoji="1" lang="en-US" altLang="ja-JP" sz="1600" dirty="0" err="1"/>
              <a:t>Vref</a:t>
            </a:r>
            <a:r>
              <a:rPr kumimoji="1" lang="ja-JP" altLang="en-US" sz="1600" dirty="0"/>
              <a:t>と繋がる→電荷保存則により、</a:t>
            </a:r>
            <a:r>
              <a:rPr kumimoji="1" lang="en-US" altLang="ja-JP" sz="1600" dirty="0" err="1"/>
              <a:t>Vout</a:t>
            </a:r>
            <a:r>
              <a:rPr kumimoji="1" lang="ja-JP" altLang="en-US" sz="1600" dirty="0"/>
              <a:t>が出力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en-US" altLang="ja-JP" sz="1600" dirty="0"/>
              <a:t>PD</a:t>
            </a:r>
            <a:r>
              <a:rPr kumimoji="1" lang="ja-JP" altLang="en-US" sz="1600" dirty="0"/>
              <a:t>が</a:t>
            </a:r>
            <a:r>
              <a:rPr kumimoji="1" lang="en-US" altLang="ja-JP" sz="1600" dirty="0"/>
              <a:t>Low</a:t>
            </a:r>
            <a:r>
              <a:rPr kumimoji="1" lang="ja-JP" altLang="en-US" sz="1600" dirty="0"/>
              <a:t>のときは、常にリセットスイッチが</a:t>
            </a:r>
            <a:r>
              <a:rPr kumimoji="1" lang="en-US" altLang="ja-JP" sz="1600" dirty="0"/>
              <a:t>ON</a:t>
            </a:r>
            <a:r>
              <a:rPr kumimoji="1" lang="ja-JP" altLang="en-US" sz="1600" dirty="0"/>
              <a:t>となるため</a:t>
            </a:r>
            <a:r>
              <a:rPr kumimoji="1" lang="en-US" altLang="ja-JP" sz="1600" dirty="0" err="1"/>
              <a:t>Vout</a:t>
            </a:r>
            <a:r>
              <a:rPr kumimoji="1" lang="ja-JP" altLang="en-US" sz="1600" dirty="0"/>
              <a:t>は</a:t>
            </a:r>
            <a:r>
              <a:rPr kumimoji="1" lang="en-US" altLang="ja-JP" sz="1600" dirty="0" err="1"/>
              <a:t>Vrefl</a:t>
            </a:r>
            <a:r>
              <a:rPr kumimoji="1" lang="ja-JP" altLang="en-US" sz="1600" dirty="0"/>
              <a:t>で一定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008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133A8-F5E2-A4CE-7FA9-E201E502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DNL/INL</a:t>
            </a:r>
            <a:r>
              <a:rPr lang="ja-JP" altLang="en-US" sz="3600" dirty="0"/>
              <a:t>の測定方法</a:t>
            </a:r>
            <a:endParaRPr kumimoji="1" lang="ja-JP" altLang="en-US" sz="36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E6D2515-E102-E88F-0822-40D9FF004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" y="3087358"/>
            <a:ext cx="5063067" cy="277621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FB0CA2F-709E-5FDA-0068-256AEAF1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7" y="1457891"/>
            <a:ext cx="4773084" cy="149877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D286EB-2C98-544C-6D5B-9D2EF435B42F}"/>
              </a:ext>
            </a:extLst>
          </p:cNvPr>
          <p:cNvSpPr txBox="1"/>
          <p:nvPr/>
        </p:nvSpPr>
        <p:spPr>
          <a:xfrm>
            <a:off x="5012266" y="1271919"/>
            <a:ext cx="4053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000000000000</a:t>
            </a:r>
            <a:r>
              <a:rPr kumimoji="1" lang="ja-JP" altLang="en-US" sz="1600" dirty="0"/>
              <a:t>→</a:t>
            </a:r>
            <a:r>
              <a:rPr kumimoji="1" lang="en-US" altLang="ja-JP" sz="1600" dirty="0"/>
              <a:t>111111111111</a:t>
            </a:r>
          </a:p>
          <a:p>
            <a:r>
              <a:rPr kumimoji="1" lang="ja-JP" altLang="en-US" sz="1600" dirty="0"/>
              <a:t>まで、全通りのデジタル値を入力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en-US" altLang="ja-JP" sz="1600" dirty="0"/>
              <a:t>LSB(D0)</a:t>
            </a:r>
            <a:r>
              <a:rPr kumimoji="1" lang="ja-JP" altLang="en-US" sz="1600" dirty="0"/>
              <a:t>は</a:t>
            </a:r>
            <a:r>
              <a:rPr kumimoji="1" lang="en-US" altLang="ja-JP" sz="1600" dirty="0"/>
              <a:t>CLK</a:t>
            </a:r>
            <a:r>
              <a:rPr kumimoji="1" lang="ja-JP" altLang="en-US" sz="1600" dirty="0"/>
              <a:t>の</a:t>
            </a:r>
            <a:r>
              <a:rPr kumimoji="1" lang="en-US" altLang="ja-JP" sz="1600" dirty="0"/>
              <a:t>2</a:t>
            </a:r>
            <a:r>
              <a:rPr kumimoji="1" lang="ja-JP" altLang="en-US" sz="1600" dirty="0"/>
              <a:t>倍、</a:t>
            </a:r>
            <a:r>
              <a:rPr kumimoji="1" lang="en-US" altLang="ja-JP" sz="1600" dirty="0"/>
              <a:t>D1</a:t>
            </a:r>
            <a:r>
              <a:rPr kumimoji="1" lang="ja-JP" altLang="en-US" sz="1600" dirty="0"/>
              <a:t>はその</a:t>
            </a:r>
            <a:r>
              <a:rPr kumimoji="1" lang="en-US" altLang="ja-JP" sz="1600" dirty="0"/>
              <a:t>2</a:t>
            </a:r>
            <a:r>
              <a:rPr kumimoji="1" lang="ja-JP" altLang="en-US" sz="1600" dirty="0"/>
              <a:t>倍というように、上位に行くごとに周期を</a:t>
            </a:r>
            <a:r>
              <a:rPr kumimoji="1" lang="en-US" altLang="ja-JP" sz="1600" dirty="0"/>
              <a:t>2</a:t>
            </a:r>
            <a:r>
              <a:rPr kumimoji="1" lang="ja-JP" altLang="en-US" sz="1600" dirty="0"/>
              <a:t>倍にしていくと全通り入力が可能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FF7335-0CC5-1398-A7D3-55024C6F2877}"/>
              </a:ext>
            </a:extLst>
          </p:cNvPr>
          <p:cNvSpPr txBox="1"/>
          <p:nvPr/>
        </p:nvSpPr>
        <p:spPr>
          <a:xfrm>
            <a:off x="5198533" y="3835400"/>
            <a:ext cx="39454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OUT</a:t>
            </a:r>
            <a:r>
              <a:rPr kumimoji="1" lang="ja-JP" altLang="en-US" sz="1600" dirty="0"/>
              <a:t>のデータを取得する</a:t>
            </a:r>
            <a:endParaRPr kumimoji="1" lang="en-US" altLang="ja-JP" sz="1600" dirty="0"/>
          </a:p>
          <a:p>
            <a:r>
              <a:rPr kumimoji="1" lang="en-US" altLang="ja-JP" sz="1600" dirty="0" err="1"/>
              <a:t>ngspice</a:t>
            </a:r>
            <a:r>
              <a:rPr kumimoji="1" lang="en-US" altLang="ja-JP" sz="1600" dirty="0"/>
              <a:t> </a:t>
            </a:r>
            <a:r>
              <a:rPr kumimoji="1" lang="ja-JP" altLang="en-US" sz="1600" dirty="0"/>
              <a:t>で</a:t>
            </a:r>
            <a:endParaRPr kumimoji="1" lang="en-US" altLang="ja-JP" sz="1600" dirty="0"/>
          </a:p>
          <a:p>
            <a:r>
              <a:rPr kumimoji="1" lang="en-US" altLang="ja-JP" sz="1600" dirty="0" err="1"/>
              <a:t>wrdata</a:t>
            </a:r>
            <a:r>
              <a:rPr kumimoji="1" lang="en-US" altLang="ja-JP" sz="1600" dirty="0"/>
              <a:t> </a:t>
            </a:r>
            <a:r>
              <a:rPr kumimoji="1" lang="ja-JP" altLang="en-US" sz="1600" dirty="0"/>
              <a:t>ファイル名</a:t>
            </a:r>
            <a:r>
              <a:rPr kumimoji="1" lang="en-US" altLang="ja-JP" sz="1600" dirty="0"/>
              <a:t>.txt(or csv) v(OUT) </a:t>
            </a:r>
            <a:r>
              <a:rPr kumimoji="1" lang="ja-JP" altLang="en-US" sz="1600" dirty="0"/>
              <a:t>と入力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en-US" altLang="ja-JP" sz="1600" dirty="0" err="1"/>
              <a:t>Xschem</a:t>
            </a:r>
            <a:r>
              <a:rPr kumimoji="1" lang="en-US" altLang="ja-JP" sz="1600" dirty="0"/>
              <a:t>/simulations/</a:t>
            </a:r>
            <a:r>
              <a:rPr kumimoji="1" lang="en-US" altLang="ja-JP" sz="1600" dirty="0" err="1"/>
              <a:t>userConf</a:t>
            </a:r>
            <a:r>
              <a:rPr kumimoji="1" lang="ja-JP" altLang="en-US" sz="1600" dirty="0"/>
              <a:t>の中に出力される</a:t>
            </a:r>
          </a:p>
        </p:txBody>
      </p:sp>
    </p:spTree>
    <p:extLst>
      <p:ext uri="{BB962C8B-B14F-4D97-AF65-F5344CB8AC3E}">
        <p14:creationId xmlns:p14="http://schemas.microsoft.com/office/powerpoint/2010/main" val="298197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527E7-DE3B-A05B-26A8-4E39979F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DNL/INL</a:t>
            </a:r>
            <a:r>
              <a:rPr kumimoji="1" lang="ja-JP" altLang="en-US" sz="3600" dirty="0"/>
              <a:t>の測定方法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8F34AC-4336-E4EE-B66A-27C28ACFA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17" y="1690689"/>
            <a:ext cx="4705350" cy="303847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ACDFD7-1319-EF76-5EF9-9C3C6FCCE9E6}"/>
              </a:ext>
            </a:extLst>
          </p:cNvPr>
          <p:cNvSpPr txBox="1"/>
          <p:nvPr/>
        </p:nvSpPr>
        <p:spPr>
          <a:xfrm>
            <a:off x="5207001" y="1809543"/>
            <a:ext cx="3936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ファイル名や分解能、サンプリング周期を設定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ja-JP" altLang="en-US" sz="1600" dirty="0"/>
              <a:t>サンプリング周期は、最初の一点の位置を指定し、そこから等間隔でサンプリングする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ja-JP" altLang="en-US" sz="1600" dirty="0"/>
              <a:t>ファイルサイズが大きいので、サンプリングしたデータのみを出力する機能 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ファイル名に</a:t>
            </a:r>
            <a:r>
              <a:rPr kumimoji="1" lang="en-US" altLang="ja-JP" sz="1600" dirty="0"/>
              <a:t>extracted</a:t>
            </a:r>
            <a:r>
              <a:rPr kumimoji="1" lang="ja-JP" altLang="en-US" sz="1600" dirty="0"/>
              <a:t>とつく</a:t>
            </a:r>
            <a:r>
              <a:rPr kumimoji="1" lang="en-US" altLang="ja-JP" sz="1600" dirty="0"/>
              <a:t>)</a:t>
            </a:r>
          </a:p>
          <a:p>
            <a:r>
              <a:rPr kumimoji="1" lang="ja-JP" altLang="en-US" sz="1600" dirty="0"/>
              <a:t>→元のデータは不要なら消す</a:t>
            </a:r>
          </a:p>
        </p:txBody>
      </p:sp>
    </p:spTree>
    <p:extLst>
      <p:ext uri="{BB962C8B-B14F-4D97-AF65-F5344CB8AC3E}">
        <p14:creationId xmlns:p14="http://schemas.microsoft.com/office/powerpoint/2010/main" val="273924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3B48A-16D9-F5C6-00D2-353B518E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DNL/INL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BFE596-6781-A10C-481B-4D853FE10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79" y="238126"/>
            <a:ext cx="4565172" cy="306387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C124F5C-27BD-39BC-7FCF-ADD6FFE8A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679" y="3556001"/>
            <a:ext cx="4763329" cy="249766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3BADE7-2958-58CC-0E00-6A557741F7C5}"/>
              </a:ext>
            </a:extLst>
          </p:cNvPr>
          <p:cNvSpPr txBox="1"/>
          <p:nvPr/>
        </p:nvSpPr>
        <p:spPr>
          <a:xfrm>
            <a:off x="462149" y="2967335"/>
            <a:ext cx="3405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このように結果が出力される</a:t>
            </a:r>
            <a:endParaRPr kumimoji="1" lang="en-US" altLang="ja-JP" dirty="0"/>
          </a:p>
          <a:p>
            <a:r>
              <a:rPr kumimoji="1" lang="ja-JP" altLang="en-US" dirty="0"/>
              <a:t>下は、サンプリングしたデータをプロットしたもの</a:t>
            </a:r>
          </a:p>
        </p:txBody>
      </p:sp>
    </p:spTree>
    <p:extLst>
      <p:ext uri="{BB962C8B-B14F-4D97-AF65-F5344CB8AC3E}">
        <p14:creationId xmlns:p14="http://schemas.microsoft.com/office/powerpoint/2010/main" val="402367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364</Words>
  <Application>Microsoft Office PowerPoint</Application>
  <PresentationFormat>画面に合わせる (4:3)</PresentationFormat>
  <Paragraphs>47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メイリオ</vt:lpstr>
      <vt:lpstr>Arial</vt:lpstr>
      <vt:lpstr>Office テーマ</vt:lpstr>
      <vt:lpstr>12bitキャパシタ型DAC 動作説明</vt:lpstr>
      <vt:lpstr>CDACアナログ部構成</vt:lpstr>
      <vt:lpstr>CDACデジタル部構成</vt:lpstr>
      <vt:lpstr>動作原理</vt:lpstr>
      <vt:lpstr>DNL/INLの測定方法</vt:lpstr>
      <vt:lpstr>DNL/INLの測定方法</vt:lpstr>
      <vt:lpstr>DNL/INL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g2481445</dc:creator>
  <cp:lastModifiedBy>g2481445</cp:lastModifiedBy>
  <cp:revision>32</cp:revision>
  <dcterms:created xsi:type="dcterms:W3CDTF">2026-02-27T06:03:59Z</dcterms:created>
  <dcterms:modified xsi:type="dcterms:W3CDTF">2026-02-27T08:09:09Z</dcterms:modified>
</cp:coreProperties>
</file>