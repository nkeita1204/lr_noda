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9" r:id="rId3"/>
    <p:sldId id="260" r:id="rId4"/>
    <p:sldId id="262" r:id="rId5"/>
    <p:sldId id="280" r:id="rId6"/>
    <p:sldId id="281" r:id="rId7"/>
    <p:sldId id="259" r:id="rId8"/>
    <p:sldId id="266" r:id="rId9"/>
    <p:sldId id="267" r:id="rId10"/>
    <p:sldId id="264" r:id="rId11"/>
    <p:sldId id="265" r:id="rId12"/>
    <p:sldId id="274" r:id="rId13"/>
    <p:sldId id="277" r:id="rId14"/>
    <p:sldId id="269" r:id="rId15"/>
    <p:sldId id="273" r:id="rId16"/>
    <p:sldId id="275" r:id="rId17"/>
    <p:sldId id="270" r:id="rId18"/>
    <p:sldId id="263" r:id="rId19"/>
    <p:sldId id="272" r:id="rId20"/>
    <p:sldId id="278" r:id="rId21"/>
    <p:sldId id="257" r:id="rId22"/>
    <p:sldId id="268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66" d="100"/>
          <a:sy n="66" d="100"/>
        </p:scale>
        <p:origin x="14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70713-464D-4F64-8827-AD62DFF338CA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35519-02DC-461D-97F2-94B383FE70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7337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DB27-28D2-4F50-B8D7-72F33C6DCD30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4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316E9-A000-4224-A418-5BF58C8DE7F6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061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7EE8-77B8-4A7C-978E-4B83B820BB7F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888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0C61-7C9B-44BF-8B25-AEC0F085ABEC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66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0B27-3197-434E-AEF9-C54D7C61FD9F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74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487C-E05D-4895-A746-7CA87EF550E2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87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7EAD-393E-4F5D-BFA4-B22D55554D17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78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46F4-8C80-48CD-A73F-0ADECB3892DD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51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E01C-96F7-429E-B472-A892CF52411F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73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486C-F499-47DC-8EEB-C5B1567EEEB1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29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B393-FDDC-4C90-9015-4F1C2EC73E65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22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4C2A6-EAC4-46F8-8E38-A0B08F8BF3FA}" type="datetime1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7EBB7-56E9-4EC2-9C19-58F9D49578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21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5B5E4-7810-299B-FB5E-4363C78FC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ミニマルアルバイト報告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0DD747-A634-0D51-D437-14787C2EF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2025/11/9</a:t>
            </a:r>
          </a:p>
          <a:p>
            <a:r>
              <a:rPr lang="ja-JP" altLang="en-US" dirty="0"/>
              <a:t>野田慶太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856C0B-E4CE-5404-676D-22ADB43B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79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60B85-CCA2-DBB6-991F-05FFC714A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149D80-297F-79EF-ADD1-F63B56869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DAC</a:t>
            </a:r>
            <a:r>
              <a:rPr lang="ja-JP" altLang="en-US" dirty="0"/>
              <a:t>の改良（ほとんど完成）</a:t>
            </a:r>
            <a:endParaRPr lang="en-US" altLang="ja-JP" dirty="0"/>
          </a:p>
          <a:p>
            <a:r>
              <a:rPr kumimoji="1" lang="ja-JP" altLang="en-US" dirty="0"/>
              <a:t>ボルテージフォロワの改良（未完）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6E5D2E-D626-89FB-A722-4C6E587E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875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44624"/>
            <a:ext cx="83342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月度アルバイト内容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１．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抵抗ラダー、キャパシタタイプ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12bit</a:t>
            </a:r>
            <a:r>
              <a:rPr kumimoji="1" lang="en-US" altLang="ja-JP" sz="1600" dirty="0">
                <a:latin typeface="Meiryo UI" pitchFamily="50" charset="-128"/>
                <a:ea typeface="Meiryo UI" pitchFamily="50" charset="-128"/>
              </a:rPr>
              <a:t>DAC)+</a:t>
            </a:r>
            <a:r>
              <a:rPr kumimoji="1" lang="ja-JP" altLang="en-US" sz="1600" u="sng" dirty="0">
                <a:latin typeface="Meiryo UI" pitchFamily="50" charset="-128"/>
                <a:ea typeface="Meiryo UI" pitchFamily="50" charset="-128"/>
              </a:rPr>
              <a:t>ボルテージフォロアーアンプ</a:t>
            </a:r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回路設計、シミュレーション</a:t>
            </a:r>
            <a:endParaRPr kumimoji="1"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TOOL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：回路設計⇒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or LTSPICE</a:t>
            </a:r>
            <a:r>
              <a:rPr lang="ja-JP" altLang="en-US" sz="16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シミュレーション⇒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NGSPICE or LTSPICE</a:t>
            </a:r>
          </a:p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目標仕様：変換速度 </a:t>
            </a:r>
            <a:r>
              <a:rPr kumimoji="1" lang="en-US" altLang="ja-JP" sz="1600" dirty="0">
                <a:latin typeface="Meiryo UI" pitchFamily="50" charset="-128"/>
                <a:ea typeface="Meiryo UI" pitchFamily="50" charset="-128"/>
              </a:rPr>
              <a:t>10MSPS</a:t>
            </a:r>
            <a:r>
              <a:rPr kumimoji="1"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(</a:t>
            </a:r>
            <a:r>
              <a:rPr kumimoji="1" lang="ja-JP" altLang="en-US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最悪 </a:t>
            </a:r>
            <a:r>
              <a:rPr kumimoji="1" lang="en-US" altLang="ja-JP" sz="16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5MSPS)</a:t>
            </a:r>
          </a:p>
          <a:p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SPICE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モデル：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N3(3V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Nch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), P3(3V 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Pch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抵抗情報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:2kΩ/um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　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or 350Ω/um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 ,0.08fF/um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 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キャパシター情報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:1.32ff/um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, 80Ω/um</a:t>
            </a:r>
            <a:r>
              <a:rPr lang="en-US" altLang="ja-JP" sz="1600" baseline="30000" dirty="0">
                <a:latin typeface="Meiryo UI" pitchFamily="50" charset="-128"/>
                <a:ea typeface="Meiryo UI" pitchFamily="50" charset="-128"/>
              </a:rPr>
              <a:t>2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納品物：</a:t>
            </a:r>
            <a:r>
              <a:rPr lang="en-US" altLang="ja-JP" sz="1600" dirty="0" err="1">
                <a:latin typeface="Meiryo UI" pitchFamily="50" charset="-128"/>
                <a:ea typeface="Meiryo UI" pitchFamily="50" charset="-128"/>
              </a:rPr>
              <a:t>Xschem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のデータとシミュレーション報告書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(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フォーマットは、自由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)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及びデータシート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納期：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10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月</a:t>
            </a:r>
            <a:r>
              <a:rPr lang="en-US" altLang="ja-JP" sz="1600" dirty="0">
                <a:latin typeface="Meiryo UI" pitchFamily="50" charset="-128"/>
                <a:ea typeface="Meiryo UI" pitchFamily="50" charset="-128"/>
              </a:rPr>
              <a:t>31</a:t>
            </a:r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日</a:t>
            </a:r>
            <a:endParaRPr lang="en-US" altLang="ja-JP" sz="1600" dirty="0">
              <a:latin typeface="Meiryo UI" pitchFamily="50" charset="-128"/>
              <a:ea typeface="Meiryo UI" pitchFamily="50" charset="-128"/>
            </a:endParaRPr>
          </a:p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担当者：野田さん、古川さん</a:t>
            </a:r>
            <a:endParaRPr kumimoji="1" lang="en-US" altLang="ja-JP" sz="16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2550963"/>
            <a:ext cx="69127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入力・出力信号情報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VDD:3.3V±10%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VSS:0V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VREFH:VDD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Vrefl:VSS</a:t>
            </a:r>
            <a:r>
              <a:rPr lang="ja-JP" altLang="en-US" sz="1400" dirty="0" err="1">
                <a:latin typeface="Meiryo UI" pitchFamily="50" charset="-128"/>
                <a:ea typeface="Meiryo UI" pitchFamily="50" charset="-128"/>
              </a:rPr>
              <a:t>、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出力範囲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:VSS+0.7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DIN[11:0]:VIL=VDD*0.2, VIH=VDD*0.8, 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trise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tfall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=1ns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DACO=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  <a:sym typeface="Wingdings" pitchFamily="2" charset="2"/>
              </a:rPr>
              <a:t>(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Vrefh-Vrefl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)/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 x din(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バイナリ値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)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PD:PD=VIL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でパワーダウンモード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Iref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:±10uA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のバイアス電流源</a:t>
            </a:r>
            <a:endParaRPr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kumimoji="1" lang="en-US" altLang="ja-JP" sz="1400" dirty="0">
                <a:latin typeface="Meiryo UI" pitchFamily="50" charset="-128"/>
                <a:ea typeface="Meiryo UI" pitchFamily="50" charset="-128"/>
              </a:rPr>
              <a:t>VOUT:DACO</a:t>
            </a:r>
            <a:r>
              <a:rPr kumimoji="1" lang="ja-JP" altLang="en-US" sz="1400" dirty="0">
                <a:latin typeface="Meiryo UI" pitchFamily="50" charset="-128"/>
                <a:ea typeface="Meiryo UI" pitchFamily="50" charset="-128"/>
              </a:rPr>
              <a:t>をボルテージフォロアアンプを経由した出力</a:t>
            </a:r>
            <a:endParaRPr kumimoji="1" lang="en-US" altLang="ja-JP" sz="1400" dirty="0">
              <a:latin typeface="Meiryo UI" pitchFamily="50" charset="-128"/>
              <a:ea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din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⇒</a:t>
            </a:r>
            <a:r>
              <a:rPr lang="en-US" altLang="ja-JP" sz="1400" dirty="0" err="1">
                <a:latin typeface="Meiryo UI" pitchFamily="50" charset="-128"/>
                <a:ea typeface="Meiryo UI" pitchFamily="50" charset="-128"/>
              </a:rPr>
              <a:t>dout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出力遅延時間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:90ns max</a:t>
            </a:r>
          </a:p>
          <a:p>
            <a:r>
              <a:rPr kumimoji="1" lang="en-US" altLang="ja-JP" sz="1400" dirty="0" err="1">
                <a:latin typeface="Meiryo UI" pitchFamily="50" charset="-128"/>
                <a:ea typeface="Meiryo UI" pitchFamily="50" charset="-128"/>
              </a:rPr>
              <a:t>vm</a:t>
            </a:r>
            <a:r>
              <a:rPr kumimoji="1" lang="en-US" altLang="ja-JP" sz="1400" dirty="0">
                <a:latin typeface="Meiryo UI" pitchFamily="50" charset="-128"/>
                <a:ea typeface="Meiryo UI" pitchFamily="50" charset="-128"/>
              </a:rPr>
              <a:t>=</a:t>
            </a:r>
            <a:r>
              <a:rPr kumimoji="1" lang="ja-JP" altLang="en-US" sz="1400" dirty="0">
                <a:latin typeface="Meiryo UI" pitchFamily="50" charset="-128"/>
                <a:ea typeface="Meiryo UI" pitchFamily="50" charset="-128"/>
              </a:rPr>
              <a:t>出力範囲</a:t>
            </a:r>
            <a:r>
              <a:rPr kumimoji="1" lang="en-US" altLang="ja-JP" sz="1400" dirty="0">
                <a:latin typeface="Meiryo UI" pitchFamily="50" charset="-128"/>
                <a:ea typeface="Meiryo UI" pitchFamily="50" charset="-128"/>
              </a:rPr>
              <a:t>/</a:t>
            </a:r>
            <a:r>
              <a:rPr kumimoji="1"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4096</a:t>
            </a: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【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タイムチャート</a:t>
            </a:r>
            <a:r>
              <a:rPr lang="en-US" altLang="ja-JP" sz="1400" dirty="0">
                <a:latin typeface="Meiryo UI" pitchFamily="50" charset="-128"/>
                <a:ea typeface="Meiryo UI" pitchFamily="50" charset="-128"/>
              </a:rPr>
              <a:t>】</a:t>
            </a:r>
            <a:r>
              <a:rPr lang="ja-JP" altLang="en-US" sz="1400" dirty="0">
                <a:latin typeface="Meiryo UI" pitchFamily="50" charset="-128"/>
                <a:ea typeface="Meiryo UI" pitchFamily="50" charset="-128"/>
              </a:rPr>
              <a:t>以下参照</a:t>
            </a:r>
            <a:endParaRPr kumimoji="1" lang="ja-JP" altLang="en-US" sz="14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1560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din[12’h0000]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123728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din[12’hf1ff]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3635896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din[12’hfff]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5148064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din[12’h0ff]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660232" y="5013176"/>
            <a:ext cx="1512168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din[12’h111]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1259632" y="5445224"/>
            <a:ext cx="86409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2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=0</a:t>
            </a:r>
            <a:endParaRPr kumimoji="1" lang="ja-JP" altLang="en-US" sz="12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699792" y="5445224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*1ff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067944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fff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580112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*0ff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7092280" y="5445224"/>
            <a:ext cx="1080120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dout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=</a:t>
            </a:r>
            <a:r>
              <a:rPr lang="en-US" altLang="ja-JP" sz="1000" dirty="0" err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vm</a:t>
            </a:r>
            <a:r>
              <a:rPr lang="en-US" altLang="ja-JP" sz="1000" dirty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</a:rPr>
              <a:t>*111</a:t>
            </a:r>
            <a:endParaRPr kumimoji="1" lang="ja-JP" altLang="en-US" sz="1000" dirty="0">
              <a:solidFill>
                <a:schemeClr val="tx1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611560" y="544522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2123728" y="5445224"/>
            <a:ext cx="57606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不定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3635896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148064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6660232" y="5445224"/>
            <a:ext cx="43204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不定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22" name="直線コネクタ 21"/>
          <p:cNvCxnSpPr/>
          <p:nvPr/>
        </p:nvCxnSpPr>
        <p:spPr>
          <a:xfrm>
            <a:off x="61156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2123728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3635896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611560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2123728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1403648" y="6032321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2930508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5148064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6660232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8172400" y="5301208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>
            <a:off x="3635896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5148064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/>
          <p:nvPr/>
        </p:nvCxnSpPr>
        <p:spPr>
          <a:xfrm>
            <a:off x="6660232" y="6021288"/>
            <a:ext cx="1512168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4442676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5882836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7467012" y="6021288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100ns</a:t>
            </a:r>
            <a:endParaRPr kumimoji="1" lang="ja-JP" altLang="en-US" sz="1200" dirty="0"/>
          </a:p>
        </p:txBody>
      </p:sp>
      <p:cxnSp>
        <p:nvCxnSpPr>
          <p:cNvPr id="42" name="直線コネクタ 41"/>
          <p:cNvCxnSpPr/>
          <p:nvPr/>
        </p:nvCxnSpPr>
        <p:spPr>
          <a:xfrm>
            <a:off x="125963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>
            <a:off x="2699792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4067944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7092280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>
            <a:off x="611560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/>
          <p:cNvSpPr txBox="1"/>
          <p:nvPr/>
        </p:nvSpPr>
        <p:spPr>
          <a:xfrm>
            <a:off x="1274324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54" name="直線矢印コネクタ 53"/>
          <p:cNvCxnSpPr/>
          <p:nvPr/>
        </p:nvCxnSpPr>
        <p:spPr>
          <a:xfrm>
            <a:off x="2125331" y="5877272"/>
            <a:ext cx="574461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2788095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3639102" y="5877272"/>
            <a:ext cx="42884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4301866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59" name="直線コネクタ 58"/>
          <p:cNvCxnSpPr/>
          <p:nvPr/>
        </p:nvCxnSpPr>
        <p:spPr>
          <a:xfrm>
            <a:off x="5800945" y="573325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5152873" y="5877272"/>
            <a:ext cx="648072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5815637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6666644" y="5877272"/>
            <a:ext cx="425636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7396607" y="57332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&lt;90ns</a:t>
            </a:r>
            <a:endParaRPr kumimoji="1" lang="ja-JP" altLang="en-US" sz="1200" dirty="0"/>
          </a:p>
        </p:txBody>
      </p:sp>
      <p:sp>
        <p:nvSpPr>
          <p:cNvPr id="51" name="スライド番号プレースホルダ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786446" y="2428868"/>
            <a:ext cx="3071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・変換速度の最悪値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eiryo UI" pitchFamily="50" charset="-128"/>
                <a:ea typeface="Meiryo UI" pitchFamily="50" charset="-128"/>
              </a:rPr>
              <a:t>データシートのフォーマット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168759"/>
              </p:ext>
            </p:extLst>
          </p:nvPr>
        </p:nvGraphicFramePr>
        <p:xfrm>
          <a:off x="395536" y="285727"/>
          <a:ext cx="8676456" cy="35719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7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017">
                  <a:extLst>
                    <a:ext uri="{9D8B030D-6E8A-4147-A177-3AD203B41FA5}">
                      <a16:colId xmlns:a16="http://schemas.microsoft.com/office/drawing/2014/main" val="3094175142"/>
                    </a:ext>
                  </a:extLst>
                </a:gridCol>
                <a:gridCol w="8157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0390">
                <a:tc gridSpan="8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DAC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項目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Symbol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条件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目標値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typ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ワースト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単位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±2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DNL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データ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=x000-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±1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LSB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オフセットエラー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x000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itchFamily="50" charset="-128"/>
                          <a:ea typeface="Meiryo UI" pitchFamily="50" charset="-128"/>
                        </a:rPr>
                        <a:t>5</a:t>
                      </a:r>
                      <a:endParaRPr kumimoji="1" lang="ja-JP" altLang="en-US" sz="1200" dirty="0"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-0.00691%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Gain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エラー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gE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endParaRPr kumimoji="1" lang="ja-JP" altLang="en-US" sz="1200" b="0" dirty="0">
                        <a:solidFill>
                          <a:srgbClr val="FF0000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0.1941%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%of FSR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消費電流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VIN=</a:t>
                      </a:r>
                      <a:r>
                        <a:rPr kumimoji="1" lang="en-US" altLang="ja-JP" sz="1200" b="0" dirty="0" err="1">
                          <a:solidFill>
                            <a:srgbClr val="FF0000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xfff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, PD=VIH, f=10MHz*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486.9uA(avg)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mA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スタンバイ電流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IDDS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PD=VIL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107uA(avg)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uA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390">
                <a:tc gridSpan="8"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ボルテージフォロワーアンプ部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(VDD=3.3V, VSS=0V)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出力電圧範囲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**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**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位相裕度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Φ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90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約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60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°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7223"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Slew Rate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SR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RL=1k,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 </a:t>
                      </a:r>
                      <a:r>
                        <a:rPr kumimoji="1" lang="en-US" altLang="ja-JP" sz="1200" b="0" baseline="0" dirty="0" err="1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Vout</a:t>
                      </a:r>
                      <a:r>
                        <a:rPr kumimoji="1" lang="en-US" altLang="ja-JP" sz="1200" b="0" baseline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=2VPP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20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Rise 64.7 </a:t>
                      </a:r>
                    </a:p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Fall 167.2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V/us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390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出力電流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IOUT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CL=1pF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</a:rPr>
                        <a:t>0.668uA(avg)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Meiryo UI" pitchFamily="50" charset="-128"/>
                        <a:ea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mA</a:t>
                      </a:r>
                      <a:endParaRPr kumimoji="1" lang="ja-JP" altLang="en-US" sz="12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72008" y="3963719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Meiryo UI" pitchFamily="50" charset="-128"/>
                <a:ea typeface="Meiryo UI" pitchFamily="50" charset="-128"/>
              </a:rPr>
              <a:t>ブロック図</a:t>
            </a:r>
            <a:endParaRPr kumimoji="1" lang="ja-JP" altLang="en-US" sz="16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台形 6"/>
          <p:cNvSpPr/>
          <p:nvPr/>
        </p:nvSpPr>
        <p:spPr>
          <a:xfrm>
            <a:off x="1403648" y="4638671"/>
            <a:ext cx="1008112" cy="792088"/>
          </a:xfrm>
          <a:prstGeom prst="trapezoid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51520" y="4899823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DIN[13:0]</a:t>
            </a:r>
            <a:endParaRPr kumimoji="1"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cxnSp>
        <p:nvCxnSpPr>
          <p:cNvPr id="10" name="直線矢印コネクタ 9"/>
          <p:cNvCxnSpPr>
            <a:stCxn id="8" idx="3"/>
            <a:endCxn id="7" idx="1"/>
          </p:cNvCxnSpPr>
          <p:nvPr/>
        </p:nvCxnSpPr>
        <p:spPr>
          <a:xfrm>
            <a:off x="1187624" y="5028508"/>
            <a:ext cx="315035" cy="62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115616" y="4179743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抵抗ラダー、キャパシタタイプ </a:t>
            </a:r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</a:t>
            </a:r>
            <a:endParaRPr kumimoji="1"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13" name="二等辺三角形 12"/>
          <p:cNvSpPr/>
          <p:nvPr/>
        </p:nvSpPr>
        <p:spPr>
          <a:xfrm>
            <a:off x="3131840" y="4827815"/>
            <a:ext cx="1080120" cy="792088"/>
          </a:xfrm>
          <a:prstGeom prst="triangl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11560" y="5979943"/>
            <a:ext cx="504056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PD</a:t>
            </a:r>
          </a:p>
        </p:txBody>
      </p:sp>
      <p:cxnSp>
        <p:nvCxnSpPr>
          <p:cNvPr id="17" name="図形 16"/>
          <p:cNvCxnSpPr>
            <a:stCxn id="15" idx="3"/>
            <a:endCxn id="7" idx="2"/>
          </p:cNvCxnSpPr>
          <p:nvPr/>
        </p:nvCxnSpPr>
        <p:spPr>
          <a:xfrm flipV="1">
            <a:off x="1115616" y="5430759"/>
            <a:ext cx="792088" cy="67786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>
            <a:stCxn id="7" idx="3"/>
          </p:cNvCxnSpPr>
          <p:nvPr/>
        </p:nvCxnSpPr>
        <p:spPr>
          <a:xfrm>
            <a:off x="2312749" y="5034715"/>
            <a:ext cx="963107" cy="91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4067944" y="518785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4572000" y="5187855"/>
            <a:ext cx="0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2699792" y="5907935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flipV="1">
            <a:off x="2699792" y="5475887"/>
            <a:ext cx="0" cy="432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2699792" y="5475887"/>
            <a:ext cx="5760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3275856" y="4901564"/>
            <a:ext cx="300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</a:t>
            </a:r>
          </a:p>
          <a:p>
            <a:r>
              <a:rPr kumimoji="1" lang="en-US" altLang="ja-JP" dirty="0"/>
              <a:t>-</a:t>
            </a:r>
            <a:endParaRPr kumimoji="1" lang="ja-JP" altLang="en-US" dirty="0"/>
          </a:p>
        </p:txBody>
      </p:sp>
      <p:cxnSp>
        <p:nvCxnSpPr>
          <p:cNvPr id="55" name="直線コネクタ 54"/>
          <p:cNvCxnSpPr/>
          <p:nvPr/>
        </p:nvCxnSpPr>
        <p:spPr>
          <a:xfrm flipH="1">
            <a:off x="1115616" y="6411991"/>
            <a:ext cx="2736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/>
          <p:nvPr/>
        </p:nvCxnSpPr>
        <p:spPr>
          <a:xfrm flipV="1">
            <a:off x="3851920" y="5403879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 flipH="1">
            <a:off x="1907704" y="6123959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flipV="1">
            <a:off x="3491880" y="5619903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/>
          <p:cNvSpPr txBox="1"/>
          <p:nvPr/>
        </p:nvSpPr>
        <p:spPr>
          <a:xfrm>
            <a:off x="5220072" y="5043839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VOUT</a:t>
            </a:r>
            <a:endParaRPr kumimoji="1"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339752" y="4755807"/>
            <a:ext cx="93610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DACO</a:t>
            </a:r>
            <a:endParaRPr kumimoji="1"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3419872" y="4179743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Meiryo UI" pitchFamily="50" charset="-128"/>
                <a:ea typeface="Meiryo UI" pitchFamily="50" charset="-128"/>
              </a:rPr>
              <a:t>ボルテージフォロワーアンプ</a:t>
            </a:r>
            <a:endParaRPr kumimoji="1"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7" name="スライド番号プレースホル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39D7E-0E06-4B1F-8112-F8D22E8141D5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395536" y="3781421"/>
            <a:ext cx="4319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Meiryo UI" pitchFamily="50" charset="-128"/>
                <a:ea typeface="Meiryo UI" pitchFamily="50" charset="-128"/>
              </a:rPr>
              <a:t>*:f=DIN</a:t>
            </a:r>
            <a:r>
              <a:rPr kumimoji="1" lang="ja-JP" altLang="en-US" sz="1200" dirty="0">
                <a:latin typeface="Meiryo UI" pitchFamily="50" charset="-128"/>
                <a:ea typeface="Meiryo UI" pitchFamily="50" charset="-128"/>
              </a:rPr>
              <a:t>のサイクル周波数</a:t>
            </a:r>
            <a:r>
              <a:rPr kumimoji="1" lang="en-US" altLang="ja-JP" sz="1200" dirty="0">
                <a:latin typeface="Meiryo UI" pitchFamily="50" charset="-128"/>
                <a:ea typeface="Meiryo UI" pitchFamily="50" charset="-128"/>
              </a:rPr>
              <a:t>, **: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 :VSS+0.7</a:t>
            </a:r>
            <a:r>
              <a:rPr lang="ja-JP" altLang="en-US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～</a:t>
            </a:r>
            <a:r>
              <a:rPr lang="en-US" altLang="ja-JP" sz="12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VDD-0.7</a:t>
            </a:r>
            <a:endParaRPr kumimoji="1" lang="ja-JP" altLang="en-US" sz="1200" dirty="0"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79512" y="6165304"/>
            <a:ext cx="93610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IrefSink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pPr algn="r"/>
            <a:r>
              <a:rPr lang="en-US" altLang="ja-JP" sz="1200" dirty="0" err="1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IrefSource</a:t>
            </a:r>
            <a:endParaRPr lang="en-US" altLang="ja-JP" sz="12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2195736" y="6309320"/>
            <a:ext cx="36004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r>
              <a:rPr lang="en-US" altLang="ja-JP" sz="1200" dirty="0">
                <a:latin typeface="Meiryo UI" pitchFamily="50" charset="-128"/>
                <a:ea typeface="Meiryo UI" pitchFamily="50" charset="-128"/>
              </a:rPr>
              <a:t>/2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5786446" y="3857628"/>
            <a:ext cx="3071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9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月の課題からの変更点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DAC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のビット数（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14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12)</a:t>
            </a:r>
          </a:p>
          <a:p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・出力範囲（</a:t>
            </a:r>
            <a:r>
              <a:rPr lang="en-US" altLang="ja-JP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Rail to Rail</a:t>
            </a:r>
            <a:r>
              <a:rPr lang="ja-JP" altLang="en-US" sz="1400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</a:rPr>
              <a:t>→緩和）</a:t>
            </a:r>
            <a:endParaRPr lang="en-US" altLang="ja-JP" sz="1400" dirty="0">
              <a:solidFill>
                <a:srgbClr val="FF0000"/>
              </a:solidFill>
              <a:latin typeface="Meiryo UI" pitchFamily="50" charset="-128"/>
              <a:ea typeface="Meiryo UI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FAC1F-ACEE-DD46-AB5E-A30FD182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Ptop</a:t>
            </a:r>
            <a:r>
              <a:rPr kumimoji="1" lang="en-US" altLang="ja-JP" dirty="0"/>
              <a:t> 1121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3E70DD-C8BA-8605-D690-56ED9053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99A766-81BD-00AD-C49E-9686B2E2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937087"/>
            <a:ext cx="8092440" cy="417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5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00E9A6-BDBA-5EFE-F350-658F1B34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SR1121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C44DC3-9F4D-019E-95BD-D366080E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98CC811-3834-5347-554C-856A0BD47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878022"/>
            <a:ext cx="8023860" cy="40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8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6954A1-145F-EA58-8547-113238E3A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51" y="239314"/>
            <a:ext cx="5915025" cy="994172"/>
          </a:xfrm>
        </p:spPr>
        <p:txBody>
          <a:bodyPr/>
          <a:lstStyle/>
          <a:p>
            <a:r>
              <a:rPr kumimoji="1" lang="en-US" altLang="ja-JP" dirty="0"/>
              <a:t>CDAC</a:t>
            </a:r>
            <a:r>
              <a:rPr lang="ja-JP" altLang="en-US" dirty="0"/>
              <a:t>の</a:t>
            </a:r>
            <a:r>
              <a:rPr kumimoji="1" lang="ja-JP" altLang="en-US" dirty="0"/>
              <a:t>構成</a:t>
            </a:r>
            <a:r>
              <a:rPr kumimoji="1" lang="en-US" altLang="ja-JP" dirty="0"/>
              <a:t>(</a:t>
            </a:r>
            <a:r>
              <a:rPr kumimoji="1" lang="ja-JP" altLang="en-US" dirty="0"/>
              <a:t>前回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14A11BB-3470-5CEF-9829-A69617B6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C326-97E4-4F40-A447-F041AC4A58B3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A82141-7C04-A298-8B2F-0B1AE4F9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72" y="1096285"/>
            <a:ext cx="7612829" cy="299302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9A1FE4-9243-EBD8-ABA3-AAFABF189007}"/>
              </a:ext>
            </a:extLst>
          </p:cNvPr>
          <p:cNvSpPr txBox="1"/>
          <p:nvPr/>
        </p:nvSpPr>
        <p:spPr>
          <a:xfrm>
            <a:off x="3965945" y="2400863"/>
            <a:ext cx="8213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700" dirty="0"/>
              <a:t>…</a:t>
            </a:r>
            <a:endParaRPr lang="ja-JP" altLang="en-US" sz="27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14B1790-533C-F430-A54B-99D28731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781" y="4166758"/>
            <a:ext cx="1921984" cy="53766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684D3D6-BFFF-A899-DD40-2FBD6C9C4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069" y="4184145"/>
            <a:ext cx="1431367" cy="163130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4E5BB4A-9D74-D96D-8F38-527FBE67B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729" y="4302821"/>
            <a:ext cx="1763740" cy="16976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4FF6F99-8918-C656-95E5-10AD70921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6001" y="4310564"/>
            <a:ext cx="1470958" cy="16976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41994E9-DFAE-9714-3A44-CC7B1C7B284E}"/>
              </a:ext>
            </a:extLst>
          </p:cNvPr>
          <p:cNvSpPr txBox="1"/>
          <p:nvPr/>
        </p:nvSpPr>
        <p:spPr>
          <a:xfrm rot="5400000">
            <a:off x="4271595" y="4997782"/>
            <a:ext cx="8213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00" dirty="0"/>
              <a:t>…</a:t>
            </a:r>
            <a:endParaRPr lang="ja-JP" altLang="en-US" sz="15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7465BEF-2E58-B06A-3D80-0DBE6D58441F}"/>
              </a:ext>
            </a:extLst>
          </p:cNvPr>
          <p:cNvSpPr txBox="1"/>
          <p:nvPr/>
        </p:nvSpPr>
        <p:spPr>
          <a:xfrm rot="5400000">
            <a:off x="5666011" y="4952433"/>
            <a:ext cx="8213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00" dirty="0"/>
              <a:t>…</a:t>
            </a:r>
            <a:endParaRPr lang="ja-JP" altLang="en-US" sz="15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709472E-D7B6-E3BF-DF6B-5090A245C6F8}"/>
              </a:ext>
            </a:extLst>
          </p:cNvPr>
          <p:cNvSpPr txBox="1"/>
          <p:nvPr/>
        </p:nvSpPr>
        <p:spPr>
          <a:xfrm rot="5400000">
            <a:off x="6866901" y="4968382"/>
            <a:ext cx="8213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00" dirty="0"/>
              <a:t>…</a:t>
            </a:r>
            <a:endParaRPr lang="ja-JP" altLang="en-US" sz="15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29E0BB0-2CF8-CE71-083A-8E96CBDA8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938" y="4971295"/>
            <a:ext cx="3431243" cy="821365"/>
          </a:xfrm>
          <a:prstGeom prst="rect">
            <a:avLst/>
          </a:prstGeom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289866C-67DD-7136-A09D-8FEC582ED8EF}"/>
              </a:ext>
            </a:extLst>
          </p:cNvPr>
          <p:cNvCxnSpPr>
            <a:cxnSpLocks/>
          </p:cNvCxnSpPr>
          <p:nvPr/>
        </p:nvCxnSpPr>
        <p:spPr>
          <a:xfrm flipV="1">
            <a:off x="2468400" y="4703333"/>
            <a:ext cx="0" cy="252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9E26548-4DC9-0DD2-0ED8-FCE1A2EF12E3}"/>
              </a:ext>
            </a:extLst>
          </p:cNvPr>
          <p:cNvSpPr txBox="1"/>
          <p:nvPr/>
        </p:nvSpPr>
        <p:spPr>
          <a:xfrm>
            <a:off x="948107" y="6097079"/>
            <a:ext cx="3325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350" dirty="0"/>
              <a:t>ノンオーバーラップクロック生成回路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72CBE82-346D-69B0-ACBD-DFF8D6F4C23D}"/>
              </a:ext>
            </a:extLst>
          </p:cNvPr>
          <p:cNvCxnSpPr>
            <a:cxnSpLocks/>
          </p:cNvCxnSpPr>
          <p:nvPr/>
        </p:nvCxnSpPr>
        <p:spPr>
          <a:xfrm>
            <a:off x="1333058" y="4113777"/>
            <a:ext cx="6335358" cy="712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47574B8-A04F-5D4C-B162-A99AC2E01797}"/>
              </a:ext>
            </a:extLst>
          </p:cNvPr>
          <p:cNvSpPr txBox="1"/>
          <p:nvPr/>
        </p:nvSpPr>
        <p:spPr>
          <a:xfrm>
            <a:off x="6868435" y="667196"/>
            <a:ext cx="123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C=33fF</a:t>
            </a:r>
            <a:endParaRPr lang="ja-JP" altLang="en-US" sz="140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B31B67A-0217-AD56-2A1C-EB8E523CB135}"/>
              </a:ext>
            </a:extLst>
          </p:cNvPr>
          <p:cNvSpPr/>
          <p:nvPr/>
        </p:nvSpPr>
        <p:spPr>
          <a:xfrm>
            <a:off x="2280266" y="4987245"/>
            <a:ext cx="1235832" cy="300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EF172D0-619D-ED56-0B07-58ABB6BF0CCC}"/>
              </a:ext>
            </a:extLst>
          </p:cNvPr>
          <p:cNvSpPr txBox="1"/>
          <p:nvPr/>
        </p:nvSpPr>
        <p:spPr>
          <a:xfrm>
            <a:off x="2825779" y="4831553"/>
            <a:ext cx="9780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50" dirty="0"/>
              <a:t>×16</a:t>
            </a:r>
            <a:endParaRPr lang="ja-JP" altLang="en-US" sz="135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DB8D889-85DD-33EF-BE0E-555EC99428D7}"/>
              </a:ext>
            </a:extLst>
          </p:cNvPr>
          <p:cNvSpPr/>
          <p:nvPr/>
        </p:nvSpPr>
        <p:spPr>
          <a:xfrm>
            <a:off x="2280269" y="5495361"/>
            <a:ext cx="1225220" cy="222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74BD646-F638-8314-3806-7891E282CDDE}"/>
              </a:ext>
            </a:extLst>
          </p:cNvPr>
          <p:cNvSpPr txBox="1"/>
          <p:nvPr/>
        </p:nvSpPr>
        <p:spPr>
          <a:xfrm>
            <a:off x="2825779" y="5759454"/>
            <a:ext cx="9780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50" dirty="0"/>
              <a:t>×17</a:t>
            </a:r>
            <a:endParaRPr lang="ja-JP" altLang="en-US" sz="135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B175379-6F01-2493-64CB-F686E663E4B4}"/>
              </a:ext>
            </a:extLst>
          </p:cNvPr>
          <p:cNvSpPr/>
          <p:nvPr/>
        </p:nvSpPr>
        <p:spPr>
          <a:xfrm>
            <a:off x="567993" y="2596987"/>
            <a:ext cx="380114" cy="404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D02607-8EA0-4A74-BA42-FF5B4CC87F27}"/>
              </a:ext>
            </a:extLst>
          </p:cNvPr>
          <p:cNvSpPr/>
          <p:nvPr/>
        </p:nvSpPr>
        <p:spPr>
          <a:xfrm>
            <a:off x="1043381" y="2599213"/>
            <a:ext cx="380114" cy="4046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A13BA9-0540-7EC5-1D0D-D931ABC417F9}"/>
              </a:ext>
            </a:extLst>
          </p:cNvPr>
          <p:cNvSpPr txBox="1"/>
          <p:nvPr/>
        </p:nvSpPr>
        <p:spPr>
          <a:xfrm>
            <a:off x="270069" y="2354696"/>
            <a:ext cx="80440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50" dirty="0"/>
              <a:t>PMOS</a:t>
            </a:r>
            <a:endParaRPr kumimoji="1" lang="ja-JP" altLang="en-US" sz="135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747DAE-1562-988E-04F0-B1C4C491A976}"/>
              </a:ext>
            </a:extLst>
          </p:cNvPr>
          <p:cNvSpPr txBox="1"/>
          <p:nvPr/>
        </p:nvSpPr>
        <p:spPr>
          <a:xfrm>
            <a:off x="1118092" y="2349266"/>
            <a:ext cx="80440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50" dirty="0"/>
              <a:t>N</a:t>
            </a:r>
            <a:r>
              <a:rPr kumimoji="1" lang="en-US" altLang="ja-JP" sz="1350" dirty="0"/>
              <a:t>MOS</a:t>
            </a:r>
            <a:endParaRPr kumimoji="1"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40425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A029D-C8B6-9A5C-EF6B-54177C91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消費電流の問題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610EEB5-CB0C-AEF5-9A59-3B389EA8E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11" y="1690689"/>
            <a:ext cx="7532178" cy="417998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BB510F4-33DB-FC25-5D88-0C575A2F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DB7746-21BC-B622-3685-BA26FA157D8A}"/>
              </a:ext>
            </a:extLst>
          </p:cNvPr>
          <p:cNvSpPr txBox="1"/>
          <p:nvPr/>
        </p:nvSpPr>
        <p:spPr>
          <a:xfrm>
            <a:off x="628650" y="5987019"/>
            <a:ext cx="805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デジタル入力によっては、スイッチング以外でも電流が流れ続けてしまう</a:t>
            </a:r>
          </a:p>
        </p:txBody>
      </p:sp>
    </p:spTree>
    <p:extLst>
      <p:ext uri="{BB962C8B-B14F-4D97-AF65-F5344CB8AC3E}">
        <p14:creationId xmlns:p14="http://schemas.microsoft.com/office/powerpoint/2010/main" val="37291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FB4F47-48EB-9D6C-266F-7EBDBA31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20" y="0"/>
            <a:ext cx="7886700" cy="1325563"/>
          </a:xfrm>
        </p:spPr>
        <p:txBody>
          <a:bodyPr/>
          <a:lstStyle/>
          <a:p>
            <a:r>
              <a:rPr lang="en-US" altLang="ja-JP" dirty="0"/>
              <a:t>CDAC</a:t>
            </a:r>
            <a:r>
              <a:rPr lang="ja-JP" altLang="en-US" dirty="0"/>
              <a:t>の構成（改良版）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097F0B0-EE5D-EAC9-2828-E05DA5830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30" y="1027907"/>
            <a:ext cx="8601740" cy="322100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814A3BC-04E5-C793-15D1-A617BE856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985" y="3901439"/>
            <a:ext cx="5837274" cy="2522603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C082F2C-BD4B-FB91-BF0B-79F14A1C8E36}"/>
              </a:ext>
            </a:extLst>
          </p:cNvPr>
          <p:cNvCxnSpPr>
            <a:cxnSpLocks/>
          </p:cNvCxnSpPr>
          <p:nvPr/>
        </p:nvCxnSpPr>
        <p:spPr>
          <a:xfrm flipV="1">
            <a:off x="4985340" y="4342298"/>
            <a:ext cx="595423" cy="2977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74D2AA5-E9A7-26BA-6BC6-632589D72E21}"/>
              </a:ext>
            </a:extLst>
          </p:cNvPr>
          <p:cNvSpPr txBox="1"/>
          <p:nvPr/>
        </p:nvSpPr>
        <p:spPr>
          <a:xfrm>
            <a:off x="3859618" y="2304578"/>
            <a:ext cx="124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16E493-EE00-D146-DF16-77DF8633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D2A3A2-143E-58C4-5D5C-9698CA554F33}"/>
              </a:ext>
            </a:extLst>
          </p:cNvPr>
          <p:cNvSpPr txBox="1"/>
          <p:nvPr/>
        </p:nvSpPr>
        <p:spPr>
          <a:xfrm>
            <a:off x="1032021" y="6394121"/>
            <a:ext cx="689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AND</a:t>
            </a:r>
            <a:r>
              <a:rPr kumimoji="1" lang="ja-JP" altLang="en-US" dirty="0"/>
              <a:t>と</a:t>
            </a:r>
            <a:r>
              <a:rPr kumimoji="1" lang="en-US" altLang="ja-JP" dirty="0"/>
              <a:t>OR</a:t>
            </a:r>
            <a:r>
              <a:rPr kumimoji="1" lang="ja-JP" altLang="en-US" dirty="0"/>
              <a:t>ゲートを</a:t>
            </a:r>
            <a:r>
              <a:rPr kumimoji="1" lang="en-US" altLang="ja-JP" dirty="0"/>
              <a:t>IMPLY</a:t>
            </a:r>
            <a:r>
              <a:rPr kumimoji="1" lang="ja-JP" altLang="en-US" dirty="0"/>
              <a:t>ゲートに変更、分解能を</a:t>
            </a:r>
            <a:r>
              <a:rPr kumimoji="1" lang="en-US" altLang="ja-JP" dirty="0"/>
              <a:t>12bit</a:t>
            </a:r>
            <a:r>
              <a:rPr kumimoji="1" lang="ja-JP" altLang="en-US" dirty="0"/>
              <a:t>に変更</a:t>
            </a:r>
          </a:p>
        </p:txBody>
      </p:sp>
    </p:spTree>
    <p:extLst>
      <p:ext uri="{BB962C8B-B14F-4D97-AF65-F5344CB8AC3E}">
        <p14:creationId xmlns:p14="http://schemas.microsoft.com/office/powerpoint/2010/main" val="563222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96D313-238E-5BF1-FCB1-2E8D20A5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8484"/>
            <a:ext cx="7886700" cy="1325563"/>
          </a:xfrm>
        </p:spPr>
        <p:txBody>
          <a:bodyPr/>
          <a:lstStyle/>
          <a:p>
            <a:r>
              <a:rPr kumimoji="1" lang="en-US" altLang="ja-JP" dirty="0"/>
              <a:t>DAC</a:t>
            </a:r>
            <a:r>
              <a:rPr kumimoji="1" lang="ja-JP" altLang="en-US" dirty="0"/>
              <a:t>出力の確認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052A03-38F5-8867-0CD8-03E082FD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62" y="1270212"/>
            <a:ext cx="6294475" cy="456307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A4D8341-4C5E-F48E-2059-0BCFF1B1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75D800-35C4-0BBB-B7F6-63D006892E91}"/>
              </a:ext>
            </a:extLst>
          </p:cNvPr>
          <p:cNvSpPr txBox="1"/>
          <p:nvPr/>
        </p:nvSpPr>
        <p:spPr>
          <a:xfrm>
            <a:off x="2030818" y="6033185"/>
            <a:ext cx="478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オフセット誤差：</a:t>
            </a:r>
            <a:r>
              <a:rPr kumimoji="1" lang="en-US" altLang="ja-JP" dirty="0"/>
              <a:t>-0.0524%</a:t>
            </a:r>
          </a:p>
          <a:p>
            <a:r>
              <a:rPr kumimoji="1" lang="ja-JP" altLang="en-US" dirty="0"/>
              <a:t>ゲイン誤差：</a:t>
            </a:r>
            <a:r>
              <a:rPr kumimoji="1" lang="en-US" altLang="ja-JP" dirty="0"/>
              <a:t>0.0692%</a:t>
            </a:r>
          </a:p>
        </p:txBody>
      </p:sp>
    </p:spTree>
    <p:extLst>
      <p:ext uri="{BB962C8B-B14F-4D97-AF65-F5344CB8AC3E}">
        <p14:creationId xmlns:p14="http://schemas.microsoft.com/office/powerpoint/2010/main" val="52369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B8CA0-F683-A0C3-11CF-F03788D3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36" y="136524"/>
            <a:ext cx="7886700" cy="1325563"/>
          </a:xfrm>
        </p:spPr>
        <p:txBody>
          <a:bodyPr/>
          <a:lstStyle/>
          <a:p>
            <a:r>
              <a:rPr kumimoji="1" lang="ja-JP" altLang="en-US" dirty="0"/>
              <a:t>消費電流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35CE33F-3B51-D65B-C41E-2493B3D0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14" y="1383304"/>
            <a:ext cx="6937745" cy="4470579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56AFB60-58BD-7F06-C0A6-5340656E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37062A-BB57-CB4A-FEE1-7B2880DB2F4F}"/>
              </a:ext>
            </a:extLst>
          </p:cNvPr>
          <p:cNvSpPr txBox="1"/>
          <p:nvPr/>
        </p:nvSpPr>
        <p:spPr>
          <a:xfrm>
            <a:off x="1892595" y="6082393"/>
            <a:ext cx="6124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デジタル入力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VIN=</a:t>
            </a:r>
            <a:r>
              <a:rPr kumimoji="1" lang="en-US" altLang="ja-JP" dirty="0" err="1">
                <a:latin typeface="Meiryo UI" pitchFamily="50" charset="-128"/>
                <a:ea typeface="Meiryo UI" pitchFamily="50" charset="-128"/>
              </a:rPr>
              <a:t>xfff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, PD=VIH, f=10MHz*</a:t>
            </a:r>
            <a:endParaRPr kumimoji="1" lang="en-US" altLang="ja-JP" dirty="0"/>
          </a:p>
          <a:p>
            <a:r>
              <a:rPr kumimoji="1" lang="ja-JP" altLang="en-US" dirty="0"/>
              <a:t>平均電流：</a:t>
            </a:r>
            <a:r>
              <a:rPr kumimoji="1" lang="en-US" altLang="ja-JP" dirty="0"/>
              <a:t>261.14uA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0549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4B29EF-A380-92A0-DC09-5A3E6DF7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CDAC</a:t>
            </a:r>
            <a:r>
              <a:rPr kumimoji="1" lang="ja-JP" altLang="en-US" dirty="0"/>
              <a:t>と</a:t>
            </a:r>
            <a:r>
              <a:rPr kumimoji="1" lang="en-US" altLang="ja-JP" dirty="0" err="1"/>
              <a:t>OPAmp</a:t>
            </a:r>
            <a:r>
              <a:rPr kumimoji="1" lang="ja-JP" altLang="en-US" dirty="0"/>
              <a:t>を接続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61F7BD-5D67-24CA-9918-F1341F3A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3864F02-B1F6-7297-73B5-863C67C3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9" y="1992058"/>
            <a:ext cx="8197702" cy="353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01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8E5990-2C6D-C8B0-AAE9-27D6A8AE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</a:t>
            </a:r>
            <a:r>
              <a:rPr kumimoji="1" lang="ja-JP" altLang="en-US" dirty="0"/>
              <a:t>トップのオペアンプ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E5DFA6-5FFA-BE1A-DC0E-07E7824F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F4DEA50-57B8-4ED3-4BD1-D7091874C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25" y="1892651"/>
            <a:ext cx="7102549" cy="44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64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9EEED-F83C-088B-2635-6E4A639F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DAC</a:t>
            </a:r>
            <a:r>
              <a:rPr kumimoji="1" lang="ja-JP" altLang="en-US" dirty="0"/>
              <a:t>出力と</a:t>
            </a:r>
            <a:r>
              <a:rPr kumimoji="1" lang="en-US" altLang="ja-JP" dirty="0"/>
              <a:t>OPA</a:t>
            </a:r>
            <a:r>
              <a:rPr kumimoji="1" lang="ja-JP" altLang="en-US" dirty="0"/>
              <a:t>出力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49E5085-7105-F90B-7F35-C3CF4B905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54" y="1403610"/>
            <a:ext cx="8266892" cy="4224894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93350A-EE33-E2EA-4964-53659642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534921-F46F-BC5F-4DD8-B0FC1450AE88}"/>
              </a:ext>
            </a:extLst>
          </p:cNvPr>
          <p:cNvSpPr txBox="1"/>
          <p:nvPr/>
        </p:nvSpPr>
        <p:spPr>
          <a:xfrm>
            <a:off x="1733107" y="5807761"/>
            <a:ext cx="6677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デジタル入力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VIN=</a:t>
            </a:r>
            <a:r>
              <a:rPr kumimoji="1" lang="en-US" altLang="ja-JP" dirty="0" err="1">
                <a:latin typeface="Meiryo UI" pitchFamily="50" charset="-128"/>
                <a:ea typeface="Meiryo UI" pitchFamily="50" charset="-128"/>
              </a:rPr>
              <a:t>xfff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, PD=VIH, f=5MHz*</a:t>
            </a:r>
          </a:p>
          <a:p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3.3V</a:t>
            </a:r>
            <a:r>
              <a:rPr kumimoji="1" lang="ja-JP" altLang="en-US" dirty="0">
                <a:latin typeface="Meiryo UI" pitchFamily="50" charset="-128"/>
                <a:ea typeface="Meiryo UI" pitchFamily="50" charset="-128"/>
              </a:rPr>
              <a:t>まで上がりきらない→</a:t>
            </a:r>
            <a:r>
              <a:rPr kumimoji="1" lang="en-US" altLang="ja-JP" dirty="0" err="1">
                <a:latin typeface="Meiryo UI" pitchFamily="50" charset="-128"/>
                <a:ea typeface="Meiryo UI" pitchFamily="50" charset="-128"/>
              </a:rPr>
              <a:t>RtR</a:t>
            </a:r>
            <a:r>
              <a:rPr kumimoji="1" lang="ja-JP" altLang="en-US" dirty="0">
                <a:latin typeface="Meiryo UI" pitchFamily="50" charset="-128"/>
                <a:ea typeface="Meiryo UI" pitchFamily="50" charset="-128"/>
              </a:rPr>
              <a:t>が必要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53986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5D214-BA77-23AE-5DBD-6BDE0122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位相裕度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DBBDFF3-BBBC-1D9C-CED5-74183A4BA82A}"/>
              </a:ext>
            </a:extLst>
          </p:cNvPr>
          <p:cNvCxnSpPr>
            <a:cxnSpLocks/>
          </p:cNvCxnSpPr>
          <p:nvPr/>
        </p:nvCxnSpPr>
        <p:spPr>
          <a:xfrm>
            <a:off x="7610475" y="2767013"/>
            <a:ext cx="0" cy="25431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322E886-D6EC-E141-3B2D-773545D82F9B}"/>
              </a:ext>
            </a:extLst>
          </p:cNvPr>
          <p:cNvGrpSpPr/>
          <p:nvPr/>
        </p:nvGrpSpPr>
        <p:grpSpPr>
          <a:xfrm>
            <a:off x="3930650" y="996721"/>
            <a:ext cx="4954296" cy="4975832"/>
            <a:chOff x="5240866" y="147460"/>
            <a:chExt cx="6605728" cy="6634443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A0DC58E7-3F0B-87B1-C3EA-4C0683119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247216" y="147460"/>
              <a:ext cx="6599378" cy="3371535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FA8AC619-23D5-E17E-1809-963789194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40866" y="3400284"/>
              <a:ext cx="6553200" cy="3381619"/>
            </a:xfrm>
            <a:prstGeom prst="rect">
              <a:avLst/>
            </a:prstGeom>
          </p:spPr>
        </p:pic>
      </p:grp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CEF5B61-02DA-ADE3-81C2-0821B93BF679}"/>
              </a:ext>
            </a:extLst>
          </p:cNvPr>
          <p:cNvCxnSpPr>
            <a:cxnSpLocks/>
          </p:cNvCxnSpPr>
          <p:nvPr/>
        </p:nvCxnSpPr>
        <p:spPr>
          <a:xfrm>
            <a:off x="7510463" y="2705100"/>
            <a:ext cx="0" cy="2652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106D6F8-8F46-7D04-F942-B08C801C9CCA}"/>
              </a:ext>
            </a:extLst>
          </p:cNvPr>
          <p:cNvSpPr txBox="1"/>
          <p:nvPr/>
        </p:nvSpPr>
        <p:spPr>
          <a:xfrm>
            <a:off x="478465" y="2053413"/>
            <a:ext cx="263953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50" dirty="0"/>
              <a:t>Sim</a:t>
            </a:r>
            <a:r>
              <a:rPr lang="ja-JP" altLang="en-US" sz="1350" dirty="0"/>
              <a:t>条件：</a:t>
            </a:r>
            <a:r>
              <a:rPr lang="en-US" altLang="ja-JP" sz="1350" dirty="0"/>
              <a:t>AC</a:t>
            </a:r>
            <a:r>
              <a:rPr lang="ja-JP" altLang="en-US" sz="1350" dirty="0"/>
              <a:t>解析 </a:t>
            </a:r>
            <a:r>
              <a:rPr lang="en-US" altLang="ja-JP" sz="1350" dirty="0"/>
              <a:t>10~1G Hz</a:t>
            </a:r>
          </a:p>
          <a:p>
            <a:r>
              <a:rPr lang="ja-JP" altLang="en-US" sz="1350" dirty="0"/>
              <a:t>負荷抵抗</a:t>
            </a:r>
            <a:r>
              <a:rPr lang="en-US" altLang="ja-JP" sz="1350" dirty="0"/>
              <a:t>1MΩ, </a:t>
            </a:r>
            <a:r>
              <a:rPr lang="ja-JP" altLang="en-US" sz="1350" dirty="0"/>
              <a:t>負荷容量</a:t>
            </a:r>
            <a:r>
              <a:rPr lang="en-US" altLang="ja-JP" sz="1350" dirty="0"/>
              <a:t>1pF</a:t>
            </a:r>
          </a:p>
          <a:p>
            <a:r>
              <a:rPr lang="ja-JP" altLang="en-US" sz="1350" dirty="0"/>
              <a:t>位相補償容量</a:t>
            </a:r>
            <a:r>
              <a:rPr lang="en-US" altLang="ja-JP" sz="1350" dirty="0"/>
              <a:t>:500fF</a:t>
            </a:r>
          </a:p>
          <a:p>
            <a:endParaRPr kumimoji="1" lang="en-US" altLang="ja-JP" sz="1350" dirty="0"/>
          </a:p>
          <a:p>
            <a:r>
              <a:rPr kumimoji="1" lang="en-US" altLang="ja-JP" sz="1350" dirty="0"/>
              <a:t>0dB</a:t>
            </a:r>
            <a:r>
              <a:rPr kumimoji="1" lang="ja-JP" altLang="en-US" sz="1350" dirty="0"/>
              <a:t>のときの位相</a:t>
            </a:r>
            <a:r>
              <a:rPr kumimoji="1" lang="en-US" altLang="ja-JP" sz="1350" dirty="0"/>
              <a:t>=</a:t>
            </a:r>
            <a:r>
              <a:rPr kumimoji="1" lang="ja-JP" altLang="en-US" sz="1350" dirty="0"/>
              <a:t>約</a:t>
            </a:r>
            <a:r>
              <a:rPr kumimoji="1" lang="en-US" altLang="ja-JP" sz="1350" dirty="0"/>
              <a:t>-125°</a:t>
            </a:r>
          </a:p>
          <a:p>
            <a:r>
              <a:rPr lang="ja-JP" altLang="en-US" sz="1350" dirty="0"/>
              <a:t>位相余裕</a:t>
            </a:r>
            <a:r>
              <a:rPr lang="en-US" altLang="ja-JP" sz="1350" dirty="0"/>
              <a:t>=180-125=55°</a:t>
            </a:r>
            <a:endParaRPr kumimoji="1"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064027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30109-1A1A-C854-E16A-9BE6CDAE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18" y="315415"/>
            <a:ext cx="8323964" cy="1325563"/>
          </a:xfrm>
        </p:spPr>
        <p:txBody>
          <a:bodyPr>
            <a:normAutofit/>
          </a:bodyPr>
          <a:lstStyle/>
          <a:p>
            <a:r>
              <a:rPr kumimoji="1" lang="en-US" altLang="ja-JP" sz="3600" dirty="0"/>
              <a:t>P</a:t>
            </a:r>
            <a:r>
              <a:rPr kumimoji="1" lang="ja-JP" altLang="en-US" sz="3600" dirty="0"/>
              <a:t>トップ、</a:t>
            </a:r>
            <a:r>
              <a:rPr kumimoji="1" lang="en-US" altLang="ja-JP" sz="3600" dirty="0"/>
              <a:t>N</a:t>
            </a:r>
            <a:r>
              <a:rPr kumimoji="1" lang="ja-JP" altLang="en-US" sz="3600" dirty="0"/>
              <a:t>トップの</a:t>
            </a:r>
            <a:r>
              <a:rPr kumimoji="1" lang="en-US" altLang="ja-JP" sz="3600" dirty="0" err="1"/>
              <a:t>OPAmp</a:t>
            </a:r>
            <a:r>
              <a:rPr kumimoji="1" lang="ja-JP" altLang="en-US" sz="3600" dirty="0"/>
              <a:t>並列接続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15195E-4E3D-ABA4-842B-CB9E25D3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450FF-5CA4-C59B-16FF-513A4F75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27" y="1640978"/>
            <a:ext cx="6885945" cy="424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38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E2927C-0318-DC49-B753-62656757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DC</a:t>
            </a:r>
            <a:r>
              <a:rPr kumimoji="1" lang="ja-JP" altLang="en-US" dirty="0"/>
              <a:t>解析結果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3287827-4E72-A00C-00F4-9824E02A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60" y="1786141"/>
            <a:ext cx="8059479" cy="414061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E157AE-52FF-D201-7E68-95B61C4D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483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F87FF-171D-5FD5-31BA-5E58ADAF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DAC</a:t>
            </a:r>
            <a:r>
              <a:rPr lang="ja-JP" altLang="en-US" dirty="0"/>
              <a:t>出力と</a:t>
            </a:r>
            <a:r>
              <a:rPr lang="en-US" altLang="ja-JP" dirty="0"/>
              <a:t>OPA</a:t>
            </a:r>
            <a:r>
              <a:rPr lang="ja-JP" altLang="en-US" dirty="0"/>
              <a:t>出力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FB90AC-C213-EEFB-14EC-5C2BDFE6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57" y="1807534"/>
            <a:ext cx="8109428" cy="413606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15AE248-06F9-E811-0302-80D5D17B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7DFBFB-E6E2-143B-7C7D-A1EC4729EF65}"/>
              </a:ext>
            </a:extLst>
          </p:cNvPr>
          <p:cNvSpPr txBox="1"/>
          <p:nvPr/>
        </p:nvSpPr>
        <p:spPr>
          <a:xfrm>
            <a:off x="1998920" y="6060444"/>
            <a:ext cx="566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デジタル入力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VIN=</a:t>
            </a:r>
            <a:r>
              <a:rPr kumimoji="1" lang="en-US" altLang="ja-JP" dirty="0" err="1">
                <a:latin typeface="Meiryo UI" pitchFamily="50" charset="-128"/>
                <a:ea typeface="Meiryo UI" pitchFamily="50" charset="-128"/>
              </a:rPr>
              <a:t>xfff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, PD=VIH, f=5MHz*</a:t>
            </a:r>
          </a:p>
        </p:txBody>
      </p:sp>
    </p:spTree>
    <p:extLst>
      <p:ext uri="{BB962C8B-B14F-4D97-AF65-F5344CB8AC3E}">
        <p14:creationId xmlns:p14="http://schemas.microsoft.com/office/powerpoint/2010/main" val="136640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D3A4C-EECC-A35F-F9D0-BF215E29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87" y="330132"/>
            <a:ext cx="7886700" cy="1325563"/>
          </a:xfrm>
        </p:spPr>
        <p:txBody>
          <a:bodyPr/>
          <a:lstStyle/>
          <a:p>
            <a:r>
              <a:rPr lang="en-US" altLang="ja-JP" dirty="0"/>
              <a:t>AC</a:t>
            </a:r>
            <a:r>
              <a:rPr lang="ja-JP" altLang="en-US" dirty="0"/>
              <a:t>解析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9C4F23-327C-431E-D5C1-ED55375D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596C82-1DF4-35C2-B8E8-34F0D9EAC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60" y="136524"/>
            <a:ext cx="6772940" cy="345349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A599914-40AC-DF72-8163-ED954F32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670" y="3252629"/>
            <a:ext cx="6850177" cy="3475038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85623D5-97F5-3182-48F6-D05206724962}"/>
              </a:ext>
            </a:extLst>
          </p:cNvPr>
          <p:cNvCxnSpPr/>
          <p:nvPr/>
        </p:nvCxnSpPr>
        <p:spPr>
          <a:xfrm>
            <a:off x="7454751" y="2636874"/>
            <a:ext cx="0" cy="3200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70EE01E-4CE8-A1F2-4833-D0C2D2EB2BE4}"/>
              </a:ext>
            </a:extLst>
          </p:cNvPr>
          <p:cNvSpPr txBox="1"/>
          <p:nvPr/>
        </p:nvSpPr>
        <p:spPr>
          <a:xfrm>
            <a:off x="186734" y="1776952"/>
            <a:ext cx="21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50°</a:t>
            </a:r>
            <a:r>
              <a:rPr kumimoji="1" lang="ja-JP" altLang="en-US" dirty="0"/>
              <a:t>程度</a:t>
            </a:r>
          </a:p>
        </p:txBody>
      </p:sp>
    </p:spTree>
    <p:extLst>
      <p:ext uri="{BB962C8B-B14F-4D97-AF65-F5344CB8AC3E}">
        <p14:creationId xmlns:p14="http://schemas.microsoft.com/office/powerpoint/2010/main" val="2477109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E30E3-4692-E06B-4D4D-9005FC35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 to Rail OPA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7F50AE-F3C7-2D2A-F0F8-228F5C75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8436D11-F642-1885-D191-6C1F7FF37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70" y="1896906"/>
            <a:ext cx="7400260" cy="425322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B1D18F-64F6-2141-2DB0-D3B08A367C14}"/>
              </a:ext>
            </a:extLst>
          </p:cNvPr>
          <p:cNvSpPr txBox="1"/>
          <p:nvPr/>
        </p:nvSpPr>
        <p:spPr>
          <a:xfrm>
            <a:off x="4253023" y="61995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Carmenzind</a:t>
            </a:r>
            <a:r>
              <a:rPr lang="ja-JP" altLang="en-US" dirty="0"/>
              <a:t>さんの教科書図</a:t>
            </a:r>
            <a:r>
              <a:rPr lang="en-US" altLang="ja-JP" dirty="0"/>
              <a:t>8-22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9865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01831-6FC6-AE9D-5976-294DAADA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R</a:t>
            </a:r>
            <a:r>
              <a:rPr kumimoji="1" lang="en-US" altLang="ja-JP" dirty="0" err="1"/>
              <a:t>tROPAMP</a:t>
            </a:r>
            <a:r>
              <a:rPr kumimoji="1" lang="ja-JP" altLang="en-US" dirty="0"/>
              <a:t>　</a:t>
            </a:r>
            <a:r>
              <a:rPr kumimoji="1" lang="en-US" altLang="ja-JP" dirty="0"/>
              <a:t>DC</a:t>
            </a:r>
            <a:r>
              <a:rPr kumimoji="1" lang="ja-JP" altLang="en-US" dirty="0"/>
              <a:t>解析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6F6ACD2-9E5A-9C17-68C1-9D4E82157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2" y="1690689"/>
            <a:ext cx="7898695" cy="4082901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36C6E0C-BEF2-B946-B9DC-12272557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21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A0BCC-F33D-F9CB-406B-3025C1DC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DAC</a:t>
            </a:r>
            <a:r>
              <a:rPr lang="ja-JP" altLang="en-US" dirty="0"/>
              <a:t>出力と</a:t>
            </a:r>
            <a:r>
              <a:rPr lang="en-US" altLang="ja-JP" dirty="0"/>
              <a:t>OPA</a:t>
            </a:r>
            <a:r>
              <a:rPr lang="ja-JP" altLang="en-US" dirty="0"/>
              <a:t>出力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5B849D9-12F7-25A9-2A74-D9286AC8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31" y="1690689"/>
            <a:ext cx="7974419" cy="4072934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1ED3FE-C3A8-4380-26C8-50F018F1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7EBB7-56E9-4EC2-9C19-58F9D49578C9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EB9F89-40B3-7603-3DB6-38E186F5EB4B}"/>
              </a:ext>
            </a:extLst>
          </p:cNvPr>
          <p:cNvSpPr txBox="1"/>
          <p:nvPr/>
        </p:nvSpPr>
        <p:spPr>
          <a:xfrm>
            <a:off x="1945757" y="5875321"/>
            <a:ext cx="566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デジタル入力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VIN=</a:t>
            </a:r>
            <a:r>
              <a:rPr kumimoji="1" lang="en-US" altLang="ja-JP" dirty="0" err="1">
                <a:latin typeface="Meiryo UI" pitchFamily="50" charset="-128"/>
                <a:ea typeface="Meiryo UI" pitchFamily="50" charset="-128"/>
              </a:rPr>
              <a:t>xfff</a:t>
            </a:r>
            <a:r>
              <a:rPr kumimoji="1" lang="en-US" altLang="ja-JP" dirty="0">
                <a:latin typeface="Meiryo UI" pitchFamily="50" charset="-128"/>
                <a:ea typeface="Meiryo UI" pitchFamily="50" charset="-128"/>
              </a:rPr>
              <a:t>, PD=VIH, f=5MHz*</a:t>
            </a:r>
          </a:p>
        </p:txBody>
      </p:sp>
    </p:spTree>
    <p:extLst>
      <p:ext uri="{BB962C8B-B14F-4D97-AF65-F5344CB8AC3E}">
        <p14:creationId xmlns:p14="http://schemas.microsoft.com/office/powerpoint/2010/main" val="3652366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8AEDA-0955-C2D2-6EE5-1D3DB0A3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41" y="290698"/>
            <a:ext cx="7886700" cy="1325563"/>
          </a:xfrm>
        </p:spPr>
        <p:txBody>
          <a:bodyPr/>
          <a:lstStyle/>
          <a:p>
            <a:r>
              <a:rPr kumimoji="1" lang="en-US" altLang="ja-JP" dirty="0"/>
              <a:t>AC</a:t>
            </a:r>
            <a:r>
              <a:rPr kumimoji="1" lang="ja-JP" altLang="en-US" dirty="0"/>
              <a:t>解析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CE9BBFB-94EE-BEF0-997C-D5A9EB016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218" y="182878"/>
            <a:ext cx="6613451" cy="338594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E26A878-22C6-EB93-4AAF-200CF791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686" y="3243034"/>
            <a:ext cx="6698513" cy="3429499"/>
          </a:xfrm>
          <a:prstGeom prst="rect">
            <a:avLst/>
          </a:prstGeom>
        </p:spPr>
      </p:pic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A610C1DD-09DE-41B5-D266-E2347788CFF8}"/>
              </a:ext>
            </a:extLst>
          </p:cNvPr>
          <p:cNvCxnSpPr/>
          <p:nvPr/>
        </p:nvCxnSpPr>
        <p:spPr>
          <a:xfrm>
            <a:off x="7017488" y="2806995"/>
            <a:ext cx="0" cy="11164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75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</TotalTime>
  <Words>794</Words>
  <Application>Microsoft Office PowerPoint</Application>
  <PresentationFormat>画面に合わせる (4:3)</PresentationFormat>
  <Paragraphs>208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Meiryo UI</vt:lpstr>
      <vt:lpstr>メイリオ</vt:lpstr>
      <vt:lpstr>游ゴシック</vt:lpstr>
      <vt:lpstr>Arial</vt:lpstr>
      <vt:lpstr>Office テーマ</vt:lpstr>
      <vt:lpstr>ミニマルアルバイト報告</vt:lpstr>
      <vt:lpstr>進捗</vt:lpstr>
      <vt:lpstr>PowerPoint プレゼンテーション</vt:lpstr>
      <vt:lpstr>PowerPoint プレゼンテーション</vt:lpstr>
      <vt:lpstr>Ptop 1121</vt:lpstr>
      <vt:lpstr>SR1121</vt:lpstr>
      <vt:lpstr>CDACの構成(前回)</vt:lpstr>
      <vt:lpstr>消費電流の問題</vt:lpstr>
      <vt:lpstr>CDACの構成（改良版）</vt:lpstr>
      <vt:lpstr>DAC出力の確認</vt:lpstr>
      <vt:lpstr>消費電流</vt:lpstr>
      <vt:lpstr>CDACとOPAmpを接続</vt:lpstr>
      <vt:lpstr>Pトップのオペアンプ</vt:lpstr>
      <vt:lpstr>DAC出力とOPA出力</vt:lpstr>
      <vt:lpstr>位相裕度</vt:lpstr>
      <vt:lpstr>Pトップ、NトップのOPAmp並列接続</vt:lpstr>
      <vt:lpstr>DC解析結果</vt:lpstr>
      <vt:lpstr>DAC出力とOPA出力</vt:lpstr>
      <vt:lpstr>AC解析</vt:lpstr>
      <vt:lpstr>Rail to Rail OPA</vt:lpstr>
      <vt:lpstr>RtROPAMP　DC解析</vt:lpstr>
      <vt:lpstr>DAC出力とOPA出力</vt:lpstr>
      <vt:lpstr>AC解析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g2481445</dc:creator>
  <cp:lastModifiedBy>g2481445</cp:lastModifiedBy>
  <cp:revision>71</cp:revision>
  <dcterms:created xsi:type="dcterms:W3CDTF">2025-11-09T06:43:36Z</dcterms:created>
  <dcterms:modified xsi:type="dcterms:W3CDTF">2025-12-12T00:27:10Z</dcterms:modified>
</cp:coreProperties>
</file>