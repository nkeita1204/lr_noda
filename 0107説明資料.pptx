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59" r:id="rId5"/>
    <p:sldId id="262" r:id="rId6"/>
    <p:sldId id="257" r:id="rId7"/>
    <p:sldId id="266" r:id="rId8"/>
    <p:sldId id="263" r:id="rId9"/>
    <p:sldId id="265" r:id="rId10"/>
    <p:sldId id="264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4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4C1C1-F90A-415B-AAC9-E9E5849E8C8A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C83-BCAD-4C15-AE88-340AF7A98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025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4C1C1-F90A-415B-AAC9-E9E5849E8C8A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C83-BCAD-4C15-AE88-340AF7A98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3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4C1C1-F90A-415B-AAC9-E9E5849E8C8A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C83-BCAD-4C15-AE88-340AF7A98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419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4C1C1-F90A-415B-AAC9-E9E5849E8C8A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C83-BCAD-4C15-AE88-340AF7A98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808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4C1C1-F90A-415B-AAC9-E9E5849E8C8A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C83-BCAD-4C15-AE88-340AF7A98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702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4C1C1-F90A-415B-AAC9-E9E5849E8C8A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C83-BCAD-4C15-AE88-340AF7A98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321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4C1C1-F90A-415B-AAC9-E9E5849E8C8A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C83-BCAD-4C15-AE88-340AF7A98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0960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4C1C1-F90A-415B-AAC9-E9E5849E8C8A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C83-BCAD-4C15-AE88-340AF7A98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5087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4C1C1-F90A-415B-AAC9-E9E5849E8C8A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C83-BCAD-4C15-AE88-340AF7A98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4663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4C1C1-F90A-415B-AAC9-E9E5849E8C8A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C83-BCAD-4C15-AE88-340AF7A98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066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4C1C1-F90A-415B-AAC9-E9E5849E8C8A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C83-BCAD-4C15-AE88-340AF7A98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746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4C1C1-F90A-415B-AAC9-E9E5849E8C8A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F1C83-BCAD-4C15-AE88-340AF7A98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682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1AE8A1-E5C5-7C6F-6B7B-92AE9CD13A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アルバイト進捗報告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FC1E8B-8183-866A-3D1B-642EAFA0EA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2026/01/07</a:t>
            </a:r>
          </a:p>
          <a:p>
            <a:r>
              <a:rPr lang="ja-JP" altLang="en-US" dirty="0"/>
              <a:t>野田慶太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02708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44624"/>
            <a:ext cx="833426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10</a:t>
            </a:r>
            <a:r>
              <a:rPr kumimoji="1" lang="ja-JP" altLang="en-US" sz="1600" dirty="0">
                <a:latin typeface="Meiryo UI" pitchFamily="50" charset="-128"/>
                <a:ea typeface="Meiryo UI" pitchFamily="50" charset="-128"/>
              </a:rPr>
              <a:t>月度アルバイト内容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１．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抵抗ラダー、キャパシタタイプ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12bit</a:t>
            </a:r>
            <a:r>
              <a:rPr kumimoji="1" lang="en-US" altLang="ja-JP" sz="1600" dirty="0">
                <a:latin typeface="Meiryo UI" pitchFamily="50" charset="-128"/>
                <a:ea typeface="Meiryo UI" pitchFamily="50" charset="-128"/>
              </a:rPr>
              <a:t>DAC)+</a:t>
            </a:r>
            <a:r>
              <a:rPr kumimoji="1" lang="ja-JP" altLang="en-US" sz="1600" u="sng" dirty="0">
                <a:latin typeface="Meiryo UI" pitchFamily="50" charset="-128"/>
                <a:ea typeface="Meiryo UI" pitchFamily="50" charset="-128"/>
              </a:rPr>
              <a:t>ボルテージフォロアーアンプ</a:t>
            </a:r>
            <a:r>
              <a:rPr kumimoji="1" lang="ja-JP" altLang="en-US" sz="1600" dirty="0">
                <a:latin typeface="Meiryo UI" pitchFamily="50" charset="-128"/>
                <a:ea typeface="Meiryo UI" pitchFamily="50" charset="-128"/>
              </a:rPr>
              <a:t>回路設計、シミュレーション</a:t>
            </a:r>
            <a:endParaRPr kumimoji="1"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TOOL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：回路設計⇒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Xschem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 or LTSPICE</a:t>
            </a:r>
            <a:r>
              <a:rPr lang="ja-JP" altLang="en-US" sz="16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シミュレーション⇒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NGSPICE or LTSPICE</a:t>
            </a:r>
          </a:p>
          <a:p>
            <a:r>
              <a:rPr kumimoji="1" lang="ja-JP" altLang="en-US" sz="1600" dirty="0">
                <a:latin typeface="Meiryo UI" pitchFamily="50" charset="-128"/>
                <a:ea typeface="Meiryo UI" pitchFamily="50" charset="-128"/>
              </a:rPr>
              <a:t>目標仕様：変換速度 </a:t>
            </a:r>
            <a:r>
              <a:rPr kumimoji="1" lang="en-US" altLang="ja-JP" sz="1600" dirty="0">
                <a:latin typeface="Meiryo UI" pitchFamily="50" charset="-128"/>
                <a:ea typeface="Meiryo UI" pitchFamily="50" charset="-128"/>
              </a:rPr>
              <a:t>10MSPS</a:t>
            </a:r>
            <a:r>
              <a:rPr kumimoji="1" lang="en-US" altLang="ja-JP" sz="16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(</a:t>
            </a:r>
            <a:r>
              <a:rPr kumimoji="1" lang="ja-JP" altLang="en-US" sz="16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最悪 </a:t>
            </a:r>
            <a:r>
              <a:rPr kumimoji="1" lang="en-US" altLang="ja-JP" sz="16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5MSPS)</a:t>
            </a:r>
          </a:p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SPICE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モデル：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N3(3V 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Nch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), P3(3V 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Pch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</a:t>
            </a: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抵抗情報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:2kΩ/um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　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or 350Ω/um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 ,0.08fF/um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 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キャパシター情報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:1.32ff/um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, 80Ω/um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納品物：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Xschem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のデータとシミュレーション報告書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フォーマットは、自由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及びデータシート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kumimoji="1" lang="ja-JP" altLang="en-US" sz="1600" dirty="0">
                <a:latin typeface="Meiryo UI" pitchFamily="50" charset="-128"/>
                <a:ea typeface="Meiryo UI" pitchFamily="50" charset="-128"/>
              </a:rPr>
              <a:t>納期：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10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月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31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日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kumimoji="1" lang="ja-JP" altLang="en-US" sz="1600" dirty="0">
                <a:latin typeface="Meiryo UI" pitchFamily="50" charset="-128"/>
                <a:ea typeface="Meiryo UI" pitchFamily="50" charset="-128"/>
              </a:rPr>
              <a:t>担当者：野田さん、古川さん</a:t>
            </a:r>
            <a:endParaRPr kumimoji="1" lang="en-US" altLang="ja-JP" sz="16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9552" y="2550963"/>
            <a:ext cx="691276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入力・出力信号情報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VDD:3.3V±10%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VSS:0V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VREFH:VDD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Vrefl:VSS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出力範囲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:VSS+0.7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～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VDD-0.7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DIN[11:0]:VIL=VDD*0.2, VIH=VDD*0.8, 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trise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tfall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=1ns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DACO=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  <a:sym typeface="Wingdings" pitchFamily="2" charset="2"/>
              </a:rPr>
              <a:t>(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Vrefh-Vrefl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)/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4096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 x din(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バイナリ値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)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PD:PD=VIL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でパワーダウンモード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Iref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:±10uA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のバイアス電流源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kumimoji="1" lang="en-US" altLang="ja-JP" sz="1400" dirty="0">
                <a:latin typeface="Meiryo UI" pitchFamily="50" charset="-128"/>
                <a:ea typeface="Meiryo UI" pitchFamily="50" charset="-128"/>
              </a:rPr>
              <a:t>VOUT:DACO</a:t>
            </a:r>
            <a:r>
              <a:rPr kumimoji="1" lang="ja-JP" altLang="en-US" sz="1400" dirty="0">
                <a:latin typeface="Meiryo UI" pitchFamily="50" charset="-128"/>
                <a:ea typeface="Meiryo UI" pitchFamily="50" charset="-128"/>
              </a:rPr>
              <a:t>をボルテージフォロアアンプを経由した出力</a:t>
            </a:r>
            <a:endParaRPr kumimoji="1"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din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⇒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dout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出力遅延時間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:90ns max</a:t>
            </a:r>
          </a:p>
          <a:p>
            <a:r>
              <a:rPr kumimoji="1" lang="en-US" altLang="ja-JP" sz="1400" dirty="0" err="1">
                <a:latin typeface="Meiryo UI" pitchFamily="50" charset="-128"/>
                <a:ea typeface="Meiryo UI" pitchFamily="50" charset="-128"/>
              </a:rPr>
              <a:t>vm</a:t>
            </a:r>
            <a:r>
              <a:rPr kumimoji="1" lang="en-US" altLang="ja-JP" sz="1400" dirty="0">
                <a:latin typeface="Meiryo UI" pitchFamily="50" charset="-128"/>
                <a:ea typeface="Meiryo UI" pitchFamily="50" charset="-128"/>
              </a:rPr>
              <a:t>=</a:t>
            </a:r>
            <a:r>
              <a:rPr kumimoji="1" lang="ja-JP" altLang="en-US" sz="1400" dirty="0">
                <a:latin typeface="Meiryo UI" pitchFamily="50" charset="-128"/>
                <a:ea typeface="Meiryo UI" pitchFamily="50" charset="-128"/>
              </a:rPr>
              <a:t>出力範囲</a:t>
            </a:r>
            <a:r>
              <a:rPr kumimoji="1" lang="en-US" altLang="ja-JP" sz="1400" dirty="0">
                <a:latin typeface="Meiryo UI" pitchFamily="50" charset="-128"/>
                <a:ea typeface="Meiryo UI" pitchFamily="50" charset="-128"/>
              </a:rPr>
              <a:t>/</a:t>
            </a:r>
            <a:r>
              <a:rPr kumimoji="1"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4096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【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タイムチャート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】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以下参照</a:t>
            </a:r>
            <a:endParaRPr kumimoji="1" lang="ja-JP" altLang="en-US" sz="14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611560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din[12’h0000]</a:t>
            </a:r>
            <a:endParaRPr kumimoji="1"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123728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din[12’hf1ff]</a:t>
            </a:r>
            <a:endParaRPr kumimoji="1"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3635896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din[12’hfff]</a:t>
            </a:r>
            <a:endParaRPr kumimoji="1"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5148064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din[12’h0ff]</a:t>
            </a:r>
            <a:endParaRPr kumimoji="1"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6660232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din[12’h111]</a:t>
            </a:r>
            <a:endParaRPr kumimoji="1"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1259632" y="5445224"/>
            <a:ext cx="86409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=0</a:t>
            </a:r>
            <a:endParaRPr kumimoji="1"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699792" y="5445224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*1ff</a:t>
            </a:r>
            <a:endParaRPr kumimoji="1"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4067944" y="5445224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fff</a:t>
            </a:r>
            <a:endParaRPr kumimoji="1"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5580112" y="5445224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*0ff</a:t>
            </a:r>
            <a:endParaRPr kumimoji="1"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7092280" y="5445224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*111</a:t>
            </a:r>
            <a:endParaRPr kumimoji="1"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611560" y="5445224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不定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2123728" y="5445224"/>
            <a:ext cx="57606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不定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3635896" y="5445224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5148064" y="5445224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6660232" y="5445224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22" name="直線コネクタ 21"/>
          <p:cNvCxnSpPr/>
          <p:nvPr/>
        </p:nvCxnSpPr>
        <p:spPr>
          <a:xfrm>
            <a:off x="611560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2123728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3635896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>
            <a:off x="611560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>
            <a:off x="2123728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/>
          <p:cNvSpPr txBox="1"/>
          <p:nvPr/>
        </p:nvSpPr>
        <p:spPr>
          <a:xfrm>
            <a:off x="1403648" y="6032321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100ns</a:t>
            </a:r>
            <a:endParaRPr kumimoji="1" lang="ja-JP" altLang="en-US" sz="1200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2930508" y="6021288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100ns</a:t>
            </a:r>
            <a:endParaRPr kumimoji="1" lang="ja-JP" altLang="en-US" sz="1200" dirty="0"/>
          </a:p>
        </p:txBody>
      </p:sp>
      <p:cxnSp>
        <p:nvCxnSpPr>
          <p:cNvPr id="30" name="直線コネクタ 29"/>
          <p:cNvCxnSpPr/>
          <p:nvPr/>
        </p:nvCxnSpPr>
        <p:spPr>
          <a:xfrm>
            <a:off x="5148064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>
            <a:off x="6660232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/>
        </p:nvCxnSpPr>
        <p:spPr>
          <a:xfrm>
            <a:off x="8172400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/>
          <p:nvPr/>
        </p:nvCxnSpPr>
        <p:spPr>
          <a:xfrm>
            <a:off x="3635896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/>
          <p:nvPr/>
        </p:nvCxnSpPr>
        <p:spPr>
          <a:xfrm>
            <a:off x="5148064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/>
          <p:cNvCxnSpPr/>
          <p:nvPr/>
        </p:nvCxnSpPr>
        <p:spPr>
          <a:xfrm>
            <a:off x="6660232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/>
          <p:cNvSpPr txBox="1"/>
          <p:nvPr/>
        </p:nvSpPr>
        <p:spPr>
          <a:xfrm>
            <a:off x="4442676" y="6021288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100ns</a:t>
            </a:r>
            <a:endParaRPr kumimoji="1" lang="ja-JP" altLang="en-US" sz="12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5882836" y="6021288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100ns</a:t>
            </a:r>
            <a:endParaRPr kumimoji="1" lang="ja-JP" altLang="en-US" sz="120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7467012" y="6021288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100ns</a:t>
            </a:r>
            <a:endParaRPr kumimoji="1" lang="ja-JP" altLang="en-US" sz="1200" dirty="0"/>
          </a:p>
        </p:txBody>
      </p:sp>
      <p:cxnSp>
        <p:nvCxnSpPr>
          <p:cNvPr id="42" name="直線コネクタ 41"/>
          <p:cNvCxnSpPr/>
          <p:nvPr/>
        </p:nvCxnSpPr>
        <p:spPr>
          <a:xfrm>
            <a:off x="1259632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/>
        </p:nvCxnSpPr>
        <p:spPr>
          <a:xfrm>
            <a:off x="2699792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/>
          <p:nvPr/>
        </p:nvCxnSpPr>
        <p:spPr>
          <a:xfrm>
            <a:off x="4067944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7092280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/>
          <p:cNvCxnSpPr/>
          <p:nvPr/>
        </p:nvCxnSpPr>
        <p:spPr>
          <a:xfrm>
            <a:off x="611560" y="5877272"/>
            <a:ext cx="64807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/>
          <p:cNvSpPr txBox="1"/>
          <p:nvPr/>
        </p:nvSpPr>
        <p:spPr>
          <a:xfrm>
            <a:off x="1274324" y="5733256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&lt;90ns</a:t>
            </a:r>
            <a:endParaRPr kumimoji="1" lang="ja-JP" altLang="en-US" sz="1200" dirty="0"/>
          </a:p>
        </p:txBody>
      </p:sp>
      <p:cxnSp>
        <p:nvCxnSpPr>
          <p:cNvPr id="54" name="直線矢印コネクタ 53"/>
          <p:cNvCxnSpPr/>
          <p:nvPr/>
        </p:nvCxnSpPr>
        <p:spPr>
          <a:xfrm>
            <a:off x="2125331" y="5877272"/>
            <a:ext cx="574461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2788095" y="5733256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&lt;90ns</a:t>
            </a:r>
            <a:endParaRPr kumimoji="1" lang="ja-JP" altLang="en-US" sz="1200" dirty="0"/>
          </a:p>
        </p:txBody>
      </p:sp>
      <p:cxnSp>
        <p:nvCxnSpPr>
          <p:cNvPr id="57" name="直線矢印コネクタ 56"/>
          <p:cNvCxnSpPr/>
          <p:nvPr/>
        </p:nvCxnSpPr>
        <p:spPr>
          <a:xfrm>
            <a:off x="3639102" y="5877272"/>
            <a:ext cx="42884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/>
          <p:cNvSpPr txBox="1"/>
          <p:nvPr/>
        </p:nvSpPr>
        <p:spPr>
          <a:xfrm>
            <a:off x="4301866" y="5733256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&lt;90ns</a:t>
            </a:r>
            <a:endParaRPr kumimoji="1" lang="ja-JP" altLang="en-US" sz="1200" dirty="0"/>
          </a:p>
        </p:txBody>
      </p:sp>
      <p:cxnSp>
        <p:nvCxnSpPr>
          <p:cNvPr id="59" name="直線コネクタ 58"/>
          <p:cNvCxnSpPr/>
          <p:nvPr/>
        </p:nvCxnSpPr>
        <p:spPr>
          <a:xfrm>
            <a:off x="5800945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>
            <a:off x="5152873" y="5877272"/>
            <a:ext cx="64807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/>
          <p:cNvSpPr txBox="1"/>
          <p:nvPr/>
        </p:nvSpPr>
        <p:spPr>
          <a:xfrm>
            <a:off x="5815637" y="5733256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&lt;90ns</a:t>
            </a:r>
            <a:endParaRPr kumimoji="1" lang="ja-JP" altLang="en-US" sz="1200" dirty="0"/>
          </a:p>
        </p:txBody>
      </p:sp>
      <p:cxnSp>
        <p:nvCxnSpPr>
          <p:cNvPr id="63" name="直線矢印コネクタ 62"/>
          <p:cNvCxnSpPr/>
          <p:nvPr/>
        </p:nvCxnSpPr>
        <p:spPr>
          <a:xfrm>
            <a:off x="6666644" y="5877272"/>
            <a:ext cx="425636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7396607" y="5733256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&lt;90ns</a:t>
            </a:r>
            <a:endParaRPr kumimoji="1" lang="ja-JP" altLang="en-US" sz="1200" dirty="0"/>
          </a:p>
        </p:txBody>
      </p:sp>
      <p:sp>
        <p:nvSpPr>
          <p:cNvPr id="51" name="スライド番号プレースホルダ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39D7E-0E06-4B1F-8112-F8D22E8141D5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5786446" y="2428868"/>
            <a:ext cx="3071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9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月の課題からの変更点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DAC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のビット数（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14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12)</a:t>
            </a: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・出力範囲（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Rail to Rail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→緩和）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・変換速度の最悪値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8859E5-DA35-31A7-29DC-3D7670FE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進捗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8836DD-3C6D-ED9C-E2F8-A5E8F6269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CDAC</a:t>
            </a:r>
            <a:r>
              <a:rPr kumimoji="1" lang="ja-JP" altLang="en-US" dirty="0"/>
              <a:t>　 →　完成 </a:t>
            </a:r>
            <a:endParaRPr kumimoji="1" lang="en-US" altLang="ja-JP" dirty="0"/>
          </a:p>
          <a:p>
            <a:r>
              <a:rPr lang="en-US" altLang="ja-JP" dirty="0" err="1"/>
              <a:t>OPAmp</a:t>
            </a:r>
            <a:r>
              <a:rPr lang="ja-JP" altLang="en-US" dirty="0"/>
              <a:t>   →     未完成</a:t>
            </a:r>
            <a:endParaRPr lang="en-US" altLang="ja-JP" dirty="0"/>
          </a:p>
          <a:p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現状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sz="2400" dirty="0"/>
              <a:t>・</a:t>
            </a:r>
            <a:r>
              <a:rPr kumimoji="1" lang="en-US" altLang="ja-JP" sz="2400" dirty="0"/>
              <a:t>CDAC</a:t>
            </a:r>
            <a:r>
              <a:rPr kumimoji="1" lang="ja-JP" altLang="en-US" sz="2400" dirty="0"/>
              <a:t>のみの場合</a:t>
            </a:r>
            <a:r>
              <a:rPr kumimoji="1" lang="en-US" altLang="ja-JP" sz="2400" dirty="0"/>
              <a:t>,DNL</a:t>
            </a:r>
            <a:r>
              <a:rPr lang="en-US" altLang="ja-JP" sz="2400" dirty="0"/>
              <a:t>,</a:t>
            </a:r>
            <a:r>
              <a:rPr kumimoji="1" lang="en-US" altLang="ja-JP" sz="2400" dirty="0"/>
              <a:t>INL</a:t>
            </a:r>
            <a:r>
              <a:rPr kumimoji="1" lang="ja-JP" altLang="en-US" sz="2400" dirty="0"/>
              <a:t>ともに</a:t>
            </a:r>
            <a:r>
              <a:rPr kumimoji="1" lang="en-US" altLang="ja-JP" sz="2400" dirty="0"/>
              <a:t>±0.5LSB</a:t>
            </a:r>
            <a:r>
              <a:rPr kumimoji="1" lang="ja-JP" altLang="en-US" sz="2400" dirty="0"/>
              <a:t>を達成</a:t>
            </a:r>
            <a:endParaRPr kumimoji="1"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・</a:t>
            </a:r>
            <a:r>
              <a:rPr lang="en-US" altLang="ja-JP" sz="2400" dirty="0"/>
              <a:t>CDAC+VF</a:t>
            </a:r>
            <a:r>
              <a:rPr lang="ja-JP" altLang="en-US" sz="2400" dirty="0"/>
              <a:t>の構成では達成できない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→</a:t>
            </a:r>
            <a:r>
              <a:rPr lang="en-US" altLang="ja-JP" sz="2400" dirty="0"/>
              <a:t>Rail to Rail </a:t>
            </a:r>
            <a:r>
              <a:rPr lang="en-US" altLang="ja-JP" sz="2400" dirty="0" err="1"/>
              <a:t>OPAmp</a:t>
            </a:r>
            <a:r>
              <a:rPr lang="ja-JP" altLang="en-US" sz="2400" dirty="0"/>
              <a:t>の設計中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54329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1A0C72-E320-C31B-6F3D-1CFAD7A2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CDAC</a:t>
            </a:r>
            <a:r>
              <a:rPr kumimoji="1" lang="ja-JP" altLang="en-US" dirty="0"/>
              <a:t>の変更点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F46BE1-B453-23B8-B228-444C1C42E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929530"/>
            <a:ext cx="7886700" cy="1393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2400" dirty="0"/>
              <a:t>・</a:t>
            </a:r>
            <a:r>
              <a:rPr kumimoji="1" lang="en-US" altLang="ja-JP" sz="2400" dirty="0"/>
              <a:t>SW</a:t>
            </a:r>
            <a:r>
              <a:rPr kumimoji="1" lang="ja-JP" altLang="en-US" sz="2400" dirty="0"/>
              <a:t>の</a:t>
            </a:r>
            <a:r>
              <a:rPr kumimoji="1" lang="en-US" altLang="ja-JP" sz="2400" dirty="0"/>
              <a:t>Multiplier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C</a:t>
            </a:r>
            <a:r>
              <a:rPr kumimoji="1" lang="ja-JP" altLang="en-US" sz="2400" dirty="0"/>
              <a:t>の値に合わせた</a:t>
            </a:r>
            <a:endParaRPr kumimoji="1"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・</a:t>
            </a:r>
            <a:r>
              <a:rPr lang="en-US" altLang="ja-JP" sz="2400" dirty="0"/>
              <a:t>Dummy</a:t>
            </a:r>
            <a:r>
              <a:rPr lang="ja-JP" altLang="en-US" sz="2400" dirty="0"/>
              <a:t>容量に</a:t>
            </a:r>
            <a:r>
              <a:rPr lang="en-US" altLang="ja-JP" sz="2400" dirty="0" err="1"/>
              <a:t>DummySW</a:t>
            </a:r>
            <a:r>
              <a:rPr lang="ja-JP" altLang="en-US" sz="2400" dirty="0"/>
              <a:t>を追加</a:t>
            </a:r>
            <a:endParaRPr kumimoji="1"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→各ユニット容量</a:t>
            </a:r>
            <a:r>
              <a:rPr lang="en-US" altLang="ja-JP" sz="2400" dirty="0"/>
              <a:t>C</a:t>
            </a:r>
            <a:r>
              <a:rPr lang="ja-JP" altLang="en-US" sz="2400" dirty="0"/>
              <a:t>から見た</a:t>
            </a:r>
            <a:r>
              <a:rPr lang="en-US" altLang="ja-JP" sz="2400" dirty="0"/>
              <a:t>Ron</a:t>
            </a:r>
            <a:r>
              <a:rPr lang="ja-JP" altLang="en-US" sz="2400" dirty="0"/>
              <a:t>を一定にするため</a:t>
            </a:r>
            <a:endParaRPr lang="en-US" altLang="ja-JP" sz="2400" dirty="0"/>
          </a:p>
          <a:p>
            <a:pPr marL="0" indent="0">
              <a:buNone/>
            </a:pPr>
            <a:endParaRPr kumimoji="1" lang="en-US" altLang="ja-JP" sz="2400" dirty="0"/>
          </a:p>
        </p:txBody>
      </p:sp>
      <p:pic>
        <p:nvPicPr>
          <p:cNvPr id="5" name="図 4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FB4EDB7A-AD0D-64AA-FA1F-B23ECCA04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65" y="1325682"/>
            <a:ext cx="8367823" cy="320693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1D46CA6-48FE-5A55-0FD2-3DC8B99252D0}"/>
              </a:ext>
            </a:extLst>
          </p:cNvPr>
          <p:cNvSpPr txBox="1"/>
          <p:nvPr/>
        </p:nvSpPr>
        <p:spPr>
          <a:xfrm>
            <a:off x="3753294" y="2257728"/>
            <a:ext cx="978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…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09783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AFB08A-5D9E-8705-6193-77037A9E1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CDAC</a:t>
            </a:r>
            <a:r>
              <a:rPr kumimoji="1" lang="ja-JP" altLang="en-US" dirty="0"/>
              <a:t>の</a:t>
            </a:r>
            <a:r>
              <a:rPr kumimoji="1" lang="en-US" altLang="ja-JP" dirty="0"/>
              <a:t>DNL,INL</a:t>
            </a:r>
            <a:r>
              <a:rPr kumimoji="1" lang="ja-JP" altLang="en-US" dirty="0"/>
              <a:t>評価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2D6B2AA-6D12-258B-A876-1971A5A14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21" y="1297700"/>
            <a:ext cx="8346558" cy="42626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9CC51B-F179-8F04-3812-C90D5965B80A}"/>
              </a:ext>
            </a:extLst>
          </p:cNvPr>
          <p:cNvSpPr txBox="1"/>
          <p:nvPr/>
        </p:nvSpPr>
        <p:spPr>
          <a:xfrm>
            <a:off x="1786270" y="5932968"/>
            <a:ext cx="6188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0~4095</a:t>
            </a:r>
            <a:r>
              <a:rPr kumimoji="1" lang="ja-JP" altLang="en-US" sz="2400" dirty="0"/>
              <a:t>の全点において</a:t>
            </a:r>
            <a:r>
              <a:rPr kumimoji="1" lang="en-US" altLang="ja-JP" sz="2400" dirty="0"/>
              <a:t>±0.5LSB</a:t>
            </a:r>
            <a:r>
              <a:rPr kumimoji="1" lang="ja-JP" altLang="en-US" sz="2400" dirty="0"/>
              <a:t>以内を達成</a:t>
            </a:r>
          </a:p>
        </p:txBody>
      </p:sp>
    </p:spTree>
    <p:extLst>
      <p:ext uri="{BB962C8B-B14F-4D97-AF65-F5344CB8AC3E}">
        <p14:creationId xmlns:p14="http://schemas.microsoft.com/office/powerpoint/2010/main" val="32596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A26D8D-74DE-9601-43C9-DC59B09D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CDAC+VF</a:t>
            </a:r>
            <a:r>
              <a:rPr lang="ja-JP" altLang="en-US" dirty="0"/>
              <a:t>の評価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8F8F4D-B17E-2436-23DC-0F88D0BC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DNL</a:t>
            </a:r>
            <a:r>
              <a:rPr kumimoji="1" lang="ja-JP" altLang="en-US" dirty="0"/>
              <a:t>、</a:t>
            </a:r>
            <a:r>
              <a:rPr kumimoji="1" lang="en-US" altLang="ja-JP" dirty="0"/>
              <a:t>INL</a:t>
            </a:r>
            <a:r>
              <a:rPr kumimoji="1" lang="ja-JP" altLang="en-US" dirty="0"/>
              <a:t>の結果</a:t>
            </a:r>
            <a:endParaRPr kumimoji="1" lang="en-US" altLang="ja-JP" dirty="0"/>
          </a:p>
          <a:p>
            <a:r>
              <a:rPr lang="ja-JP" altLang="en-US" dirty="0"/>
              <a:t>現状の構成、課題（</a:t>
            </a:r>
            <a:r>
              <a:rPr lang="en-US" altLang="ja-JP" dirty="0"/>
              <a:t>Fs</a:t>
            </a:r>
            <a:r>
              <a:rPr lang="ja-JP" altLang="en-US" dirty="0"/>
              <a:t>に間に合わない</a:t>
            </a:r>
            <a:r>
              <a:rPr lang="en-US" altLang="ja-JP" dirty="0"/>
              <a:t>)</a:t>
            </a: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EFE4D444-2EB1-1FB8-5C27-0A4B7ED4B564}"/>
              </a:ext>
            </a:extLst>
          </p:cNvPr>
          <p:cNvGrpSpPr/>
          <p:nvPr/>
        </p:nvGrpSpPr>
        <p:grpSpPr>
          <a:xfrm>
            <a:off x="1781944" y="3338670"/>
            <a:ext cx="5580112" cy="2643620"/>
            <a:chOff x="72008" y="3963719"/>
            <a:chExt cx="5580112" cy="2643620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5A2962B6-D8C0-EE65-CCE9-27BDE1DC2D6D}"/>
                </a:ext>
              </a:extLst>
            </p:cNvPr>
            <p:cNvSpPr txBox="1"/>
            <p:nvPr/>
          </p:nvSpPr>
          <p:spPr>
            <a:xfrm>
              <a:off x="72008" y="3963719"/>
              <a:ext cx="9557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dirty="0">
                  <a:latin typeface="Meiryo UI" pitchFamily="50" charset="-128"/>
                  <a:ea typeface="Meiryo UI" pitchFamily="50" charset="-128"/>
                </a:rPr>
                <a:t>ブロック図</a:t>
              </a:r>
              <a:endParaRPr kumimoji="1" lang="ja-JP" altLang="en-US" sz="1600" dirty="0">
                <a:latin typeface="Meiryo UI" pitchFamily="50" charset="-128"/>
                <a:ea typeface="Meiryo UI" pitchFamily="50" charset="-128"/>
              </a:endParaRPr>
            </a:p>
          </p:txBody>
        </p:sp>
        <p:sp>
          <p:nvSpPr>
            <p:cNvPr id="5" name="台形 4">
              <a:extLst>
                <a:ext uri="{FF2B5EF4-FFF2-40B4-BE49-F238E27FC236}">
                  <a16:creationId xmlns:a16="http://schemas.microsoft.com/office/drawing/2014/main" id="{B94477D7-C5DC-2938-38DB-B4437C399E29}"/>
                </a:ext>
              </a:extLst>
            </p:cNvPr>
            <p:cNvSpPr/>
            <p:nvPr/>
          </p:nvSpPr>
          <p:spPr>
            <a:xfrm>
              <a:off x="1403648" y="4638671"/>
              <a:ext cx="1008112" cy="792088"/>
            </a:xfrm>
            <a:prstGeom prst="trapezoid">
              <a:avLst/>
            </a:prstGeom>
            <a:noFill/>
            <a:ln>
              <a:solidFill>
                <a:schemeClr val="tx1"/>
              </a:solidFill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914CD653-FA72-3476-FA3F-09F5C9FAFB60}"/>
                </a:ext>
              </a:extLst>
            </p:cNvPr>
            <p:cNvSpPr txBox="1"/>
            <p:nvPr/>
          </p:nvSpPr>
          <p:spPr>
            <a:xfrm>
              <a:off x="251520" y="4899823"/>
              <a:ext cx="936104" cy="2573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ja-JP" sz="1200" dirty="0">
                  <a:latin typeface="Meiryo UI" pitchFamily="50" charset="-128"/>
                  <a:ea typeface="Meiryo UI" pitchFamily="50" charset="-128"/>
                </a:rPr>
                <a:t>DIN[11:0]</a:t>
              </a:r>
              <a:endParaRPr kumimoji="1" lang="ja-JP" altLang="en-US" sz="1200" dirty="0">
                <a:latin typeface="Meiryo UI" pitchFamily="50" charset="-128"/>
                <a:ea typeface="Meiryo UI" pitchFamily="50" charset="-128"/>
              </a:endParaRPr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D75F498E-7847-F260-7714-7FFA4A508F91}"/>
                </a:ext>
              </a:extLst>
            </p:cNvPr>
            <p:cNvCxnSpPr>
              <a:stCxn id="6" idx="3"/>
              <a:endCxn id="5" idx="1"/>
            </p:cNvCxnSpPr>
            <p:nvPr/>
          </p:nvCxnSpPr>
          <p:spPr>
            <a:xfrm>
              <a:off x="1187624" y="5028508"/>
              <a:ext cx="315035" cy="620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189D949-6C0C-FE66-E4B7-A0220CC33849}"/>
                </a:ext>
              </a:extLst>
            </p:cNvPr>
            <p:cNvSpPr txBox="1"/>
            <p:nvPr/>
          </p:nvSpPr>
          <p:spPr>
            <a:xfrm>
              <a:off x="1115616" y="4179743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200" dirty="0">
                  <a:latin typeface="Meiryo UI" pitchFamily="50" charset="-128"/>
                  <a:ea typeface="Meiryo UI" pitchFamily="50" charset="-128"/>
                </a:rPr>
                <a:t>抵抗ラダー、キャパシタタイプ </a:t>
              </a:r>
              <a:r>
                <a:rPr lang="en-US" altLang="ja-JP" sz="1200" dirty="0">
                  <a:latin typeface="Meiryo UI" pitchFamily="50" charset="-128"/>
                  <a:ea typeface="Meiryo UI" pitchFamily="50" charset="-128"/>
                </a:rPr>
                <a:t>DAC</a:t>
              </a:r>
              <a:endParaRPr kumimoji="1" lang="ja-JP" altLang="en-US" sz="1200" dirty="0">
                <a:latin typeface="Meiryo UI" pitchFamily="50" charset="-128"/>
                <a:ea typeface="Meiryo UI" pitchFamily="50" charset="-128"/>
              </a:endParaRPr>
            </a:p>
          </p:txBody>
        </p:sp>
        <p:sp>
          <p:nvSpPr>
            <p:cNvPr id="9" name="二等辺三角形 8">
              <a:extLst>
                <a:ext uri="{FF2B5EF4-FFF2-40B4-BE49-F238E27FC236}">
                  <a16:creationId xmlns:a16="http://schemas.microsoft.com/office/drawing/2014/main" id="{1106FBC8-CAC1-5AC7-C9EA-E06FD9450DF2}"/>
                </a:ext>
              </a:extLst>
            </p:cNvPr>
            <p:cNvSpPr/>
            <p:nvPr/>
          </p:nvSpPr>
          <p:spPr>
            <a:xfrm>
              <a:off x="3131840" y="4827815"/>
              <a:ext cx="1080120" cy="792088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635E823C-F242-6E5E-41AF-28BED7644DB7}"/>
                </a:ext>
              </a:extLst>
            </p:cNvPr>
            <p:cNvSpPr txBox="1"/>
            <p:nvPr/>
          </p:nvSpPr>
          <p:spPr>
            <a:xfrm>
              <a:off x="611560" y="5979943"/>
              <a:ext cx="504056" cy="2573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r"/>
              <a:r>
                <a:rPr lang="en-US" altLang="ja-JP" sz="1200" dirty="0">
                  <a:latin typeface="Meiryo UI" pitchFamily="50" charset="-128"/>
                  <a:ea typeface="Meiryo UI" pitchFamily="50" charset="-128"/>
                </a:rPr>
                <a:t>PD</a:t>
              </a:r>
            </a:p>
          </p:txBody>
        </p:sp>
        <p:cxnSp>
          <p:nvCxnSpPr>
            <p:cNvPr id="11" name="図形 16">
              <a:extLst>
                <a:ext uri="{FF2B5EF4-FFF2-40B4-BE49-F238E27FC236}">
                  <a16:creationId xmlns:a16="http://schemas.microsoft.com/office/drawing/2014/main" id="{B357BED3-52D3-F843-A0A6-588AD4259CF0}"/>
                </a:ext>
              </a:extLst>
            </p:cNvPr>
            <p:cNvCxnSpPr>
              <a:stCxn id="10" idx="3"/>
              <a:endCxn id="5" idx="2"/>
            </p:cNvCxnSpPr>
            <p:nvPr/>
          </p:nvCxnSpPr>
          <p:spPr>
            <a:xfrm flipV="1">
              <a:off x="1115616" y="5430759"/>
              <a:ext cx="792088" cy="67786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33683782-5B5B-2C97-6F0B-F82711C6EBBA}"/>
                </a:ext>
              </a:extLst>
            </p:cNvPr>
            <p:cNvCxnSpPr>
              <a:stCxn id="5" idx="3"/>
            </p:cNvCxnSpPr>
            <p:nvPr/>
          </p:nvCxnSpPr>
          <p:spPr>
            <a:xfrm>
              <a:off x="2312749" y="5034715"/>
              <a:ext cx="963107" cy="91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9C22ABFA-F0E2-74ED-C1C1-DA63C61985FE}"/>
                </a:ext>
              </a:extLst>
            </p:cNvPr>
            <p:cNvCxnSpPr/>
            <p:nvPr/>
          </p:nvCxnSpPr>
          <p:spPr>
            <a:xfrm>
              <a:off x="4067944" y="5187855"/>
              <a:ext cx="10801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60E3E75C-A93B-E532-7326-4FD84F422EF2}"/>
                </a:ext>
              </a:extLst>
            </p:cNvPr>
            <p:cNvCxnSpPr/>
            <p:nvPr/>
          </p:nvCxnSpPr>
          <p:spPr>
            <a:xfrm>
              <a:off x="4572000" y="5187855"/>
              <a:ext cx="0" cy="7200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ABA6CD2A-F927-6547-710F-2F67701DA0D3}"/>
                </a:ext>
              </a:extLst>
            </p:cNvPr>
            <p:cNvCxnSpPr/>
            <p:nvPr/>
          </p:nvCxnSpPr>
          <p:spPr>
            <a:xfrm flipH="1">
              <a:off x="2699792" y="5907935"/>
              <a:ext cx="18722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2B46EA9B-9F0E-2254-1DF8-18101F4CC9DA}"/>
                </a:ext>
              </a:extLst>
            </p:cNvPr>
            <p:cNvCxnSpPr/>
            <p:nvPr/>
          </p:nvCxnSpPr>
          <p:spPr>
            <a:xfrm flipV="1">
              <a:off x="2699792" y="5475887"/>
              <a:ext cx="0" cy="43204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ABFC41C9-0B1E-5408-CF58-8E617D9D4EC2}"/>
                </a:ext>
              </a:extLst>
            </p:cNvPr>
            <p:cNvCxnSpPr/>
            <p:nvPr/>
          </p:nvCxnSpPr>
          <p:spPr>
            <a:xfrm>
              <a:off x="2699792" y="5475887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B1FC2A54-3778-C4F2-1EB1-A15BFE5665BF}"/>
                </a:ext>
              </a:extLst>
            </p:cNvPr>
            <p:cNvSpPr txBox="1"/>
            <p:nvPr/>
          </p:nvSpPr>
          <p:spPr>
            <a:xfrm>
              <a:off x="3275856" y="4901564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+</a:t>
              </a:r>
            </a:p>
            <a:p>
              <a:r>
                <a:rPr kumimoji="1" lang="en-US" altLang="ja-JP" dirty="0"/>
                <a:t>-</a:t>
              </a:r>
              <a:endParaRPr kumimoji="1" lang="ja-JP" altLang="en-US" dirty="0"/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3B1DFCB8-2464-FB6C-C0EF-B23AAE3033EA}"/>
                </a:ext>
              </a:extLst>
            </p:cNvPr>
            <p:cNvCxnSpPr/>
            <p:nvPr/>
          </p:nvCxnSpPr>
          <p:spPr>
            <a:xfrm flipH="1">
              <a:off x="1115616" y="6411991"/>
              <a:ext cx="273630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E39EA85B-22DE-76F1-B85F-20694967C8BC}"/>
                </a:ext>
              </a:extLst>
            </p:cNvPr>
            <p:cNvCxnSpPr/>
            <p:nvPr/>
          </p:nvCxnSpPr>
          <p:spPr>
            <a:xfrm flipV="1">
              <a:off x="3851920" y="5403879"/>
              <a:ext cx="0" cy="10081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63F5972D-98F8-67BD-C64C-5129130734BC}"/>
                </a:ext>
              </a:extLst>
            </p:cNvPr>
            <p:cNvCxnSpPr/>
            <p:nvPr/>
          </p:nvCxnSpPr>
          <p:spPr>
            <a:xfrm flipH="1">
              <a:off x="1907704" y="6123959"/>
              <a:ext cx="158417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0200F400-E9F4-7C4F-CD64-E939663ED303}"/>
                </a:ext>
              </a:extLst>
            </p:cNvPr>
            <p:cNvCxnSpPr/>
            <p:nvPr/>
          </p:nvCxnSpPr>
          <p:spPr>
            <a:xfrm flipV="1">
              <a:off x="3491880" y="5619903"/>
              <a:ext cx="0" cy="5040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AB911EE3-D156-5CAA-142B-949CA7FE39FA}"/>
                </a:ext>
              </a:extLst>
            </p:cNvPr>
            <p:cNvSpPr txBox="1"/>
            <p:nvPr/>
          </p:nvSpPr>
          <p:spPr>
            <a:xfrm>
              <a:off x="2339752" y="4755807"/>
              <a:ext cx="936104" cy="2573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ja-JP" sz="1200" dirty="0">
                  <a:latin typeface="Meiryo UI" pitchFamily="50" charset="-128"/>
                  <a:ea typeface="Meiryo UI" pitchFamily="50" charset="-128"/>
                </a:rPr>
                <a:t>DACO</a:t>
              </a:r>
              <a:endParaRPr kumimoji="1" lang="ja-JP" altLang="en-US" sz="1200" dirty="0">
                <a:latin typeface="Meiryo UI" pitchFamily="50" charset="-128"/>
                <a:ea typeface="Meiryo UI" pitchFamily="50" charset="-128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3445B64-D437-EBFB-D9B2-4D397EAECF5A}"/>
                </a:ext>
              </a:extLst>
            </p:cNvPr>
            <p:cNvSpPr txBox="1"/>
            <p:nvPr/>
          </p:nvSpPr>
          <p:spPr>
            <a:xfrm>
              <a:off x="3419872" y="4179743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200" dirty="0">
                  <a:latin typeface="Meiryo UI" pitchFamily="50" charset="-128"/>
                  <a:ea typeface="Meiryo UI" pitchFamily="50" charset="-128"/>
                </a:rPr>
                <a:t>ボルテージフォロワーアンプ</a:t>
              </a:r>
              <a:endParaRPr kumimoji="1" lang="ja-JP" altLang="en-US" sz="1200" dirty="0">
                <a:latin typeface="Meiryo UI" pitchFamily="50" charset="-128"/>
                <a:ea typeface="Meiryo UI" pitchFamily="50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7AB95BC8-0B30-7EB6-6012-D5BC9A7FE170}"/>
                </a:ext>
              </a:extLst>
            </p:cNvPr>
            <p:cNvSpPr txBox="1"/>
            <p:nvPr/>
          </p:nvSpPr>
          <p:spPr>
            <a:xfrm>
              <a:off x="179512" y="6165304"/>
              <a:ext cx="936104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r"/>
              <a:r>
                <a:rPr lang="en-US" altLang="ja-JP" sz="1200" dirty="0" err="1">
                  <a:solidFill>
                    <a:srgbClr val="FF0000"/>
                  </a:solidFill>
                  <a:latin typeface="Meiryo UI" pitchFamily="50" charset="-128"/>
                  <a:ea typeface="Meiryo UI" pitchFamily="50" charset="-128"/>
                </a:rPr>
                <a:t>IrefSink</a:t>
              </a:r>
              <a:endParaRPr lang="en-US" altLang="ja-JP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endParaRPr>
            </a:p>
            <a:p>
              <a:pPr algn="r"/>
              <a:r>
                <a:rPr lang="en-US" altLang="ja-JP" sz="1200" dirty="0" err="1">
                  <a:solidFill>
                    <a:srgbClr val="FF0000"/>
                  </a:solidFill>
                  <a:latin typeface="Meiryo UI" pitchFamily="50" charset="-128"/>
                  <a:ea typeface="Meiryo UI" pitchFamily="50" charset="-128"/>
                </a:rPr>
                <a:t>IrefSource</a:t>
              </a:r>
              <a:endParaRPr lang="en-US" altLang="ja-JP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C6C31862-CBF0-5805-D1EB-1AE0ADCE204E}"/>
                </a:ext>
              </a:extLst>
            </p:cNvPr>
            <p:cNvSpPr txBox="1"/>
            <p:nvPr/>
          </p:nvSpPr>
          <p:spPr>
            <a:xfrm>
              <a:off x="2195736" y="6309320"/>
              <a:ext cx="360040" cy="2573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r"/>
              <a:r>
                <a:rPr lang="en-US" altLang="ja-JP" sz="1200" dirty="0">
                  <a:latin typeface="Meiryo UI" pitchFamily="50" charset="-128"/>
                  <a:ea typeface="Meiryo UI" pitchFamily="50" charset="-128"/>
                </a:rPr>
                <a:t>/2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3235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0D85C6-0826-5476-8C2F-46F23A05A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VF</a:t>
            </a:r>
            <a:r>
              <a:rPr kumimoji="1" lang="ja-JP" altLang="en-US" dirty="0"/>
              <a:t>構成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P</a:t>
            </a:r>
            <a:r>
              <a:rPr lang="en-US" altLang="ja-JP" dirty="0" err="1"/>
              <a:t>top-</a:t>
            </a:r>
            <a:r>
              <a:rPr kumimoji="1" lang="en-US" altLang="ja-JP" dirty="0" err="1"/>
              <a:t>OPAmp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C2ADB9F-5AC1-9379-DD74-2D3FC5AFD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18" y="1939167"/>
            <a:ext cx="6911163" cy="44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49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0C353D-9E33-81AB-A4FC-19981B95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評価結果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D628C35-EFD8-1851-3CEF-3574AD96B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720" y="1360677"/>
            <a:ext cx="6060559" cy="413664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C614BE-8F59-A23E-D178-E98B9AF6DD3F}"/>
              </a:ext>
            </a:extLst>
          </p:cNvPr>
          <p:cNvSpPr txBox="1"/>
          <p:nvPr/>
        </p:nvSpPr>
        <p:spPr>
          <a:xfrm>
            <a:off x="1392864" y="5644523"/>
            <a:ext cx="6687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Vrefh</a:t>
            </a:r>
            <a:r>
              <a:rPr kumimoji="1" lang="en-US" altLang="ja-JP" dirty="0"/>
              <a:t> 2.2V         </a:t>
            </a:r>
            <a:r>
              <a:rPr kumimoji="1" lang="en-US" altLang="ja-JP" dirty="0" err="1"/>
              <a:t>Vrefl</a:t>
            </a:r>
            <a:r>
              <a:rPr kumimoji="1" lang="en-US" altLang="ja-JP" dirty="0"/>
              <a:t>  0.3V</a:t>
            </a:r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±0.5LSB</a:t>
            </a:r>
            <a:r>
              <a:rPr kumimoji="1" lang="ja-JP" altLang="en-US" dirty="0"/>
              <a:t>を達成していない点がある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 err="1"/>
              <a:t>Vrefh</a:t>
            </a:r>
            <a:r>
              <a:rPr kumimoji="1" lang="ja-JP" altLang="en-US" dirty="0"/>
              <a:t>に近いほど精度低下</a:t>
            </a:r>
          </a:p>
        </p:txBody>
      </p:sp>
    </p:spTree>
    <p:extLst>
      <p:ext uri="{BB962C8B-B14F-4D97-AF65-F5344CB8AC3E}">
        <p14:creationId xmlns:p14="http://schemas.microsoft.com/office/powerpoint/2010/main" val="966843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B32AFB-3183-866C-B7D9-F7D4A92AE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検討中の</a:t>
            </a:r>
            <a:r>
              <a:rPr kumimoji="1" lang="en-US" altLang="ja-JP" dirty="0" err="1"/>
              <a:t>OPAmp</a:t>
            </a:r>
            <a:r>
              <a:rPr kumimoji="1" lang="ja-JP" altLang="en-US" dirty="0"/>
              <a:t>構成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C4CAFC4-C5BB-F343-8766-740B7C915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809" y="1551818"/>
            <a:ext cx="5863205" cy="4941056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244295E-DF08-3812-9813-CDD6D07A40E6}"/>
              </a:ext>
            </a:extLst>
          </p:cNvPr>
          <p:cNvCxnSpPr/>
          <p:nvPr/>
        </p:nvCxnSpPr>
        <p:spPr>
          <a:xfrm>
            <a:off x="2030819" y="3429000"/>
            <a:ext cx="223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B5CCE62-5437-AE5F-71DD-DC2E3EACDA96}"/>
              </a:ext>
            </a:extLst>
          </p:cNvPr>
          <p:cNvSpPr txBox="1"/>
          <p:nvPr/>
        </p:nvSpPr>
        <p:spPr>
          <a:xfrm>
            <a:off x="1837099" y="3451669"/>
            <a:ext cx="610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10u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022C66-3FF4-8F7B-977A-C2897684EA90}"/>
              </a:ext>
            </a:extLst>
          </p:cNvPr>
          <p:cNvSpPr txBox="1"/>
          <p:nvPr/>
        </p:nvSpPr>
        <p:spPr>
          <a:xfrm>
            <a:off x="7026629" y="3700982"/>
            <a:ext cx="1108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M=40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2F915DB-5417-643C-FDAA-34A2E7F1AA42}"/>
              </a:ext>
            </a:extLst>
          </p:cNvPr>
          <p:cNvSpPr txBox="1"/>
          <p:nvPr/>
        </p:nvSpPr>
        <p:spPr>
          <a:xfrm>
            <a:off x="7026629" y="4772983"/>
            <a:ext cx="1108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M=40</a:t>
            </a:r>
            <a:endParaRPr kumimoji="1" lang="ja-JP" altLang="en-US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8943C0D-E565-B668-4C06-C00F16E3CD90}"/>
              </a:ext>
            </a:extLst>
          </p:cNvPr>
          <p:cNvCxnSpPr/>
          <p:nvPr/>
        </p:nvCxnSpPr>
        <p:spPr>
          <a:xfrm>
            <a:off x="6803346" y="3921642"/>
            <a:ext cx="223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66ED702-E6F7-46BF-7E93-AB97E9AFE41D}"/>
              </a:ext>
            </a:extLst>
          </p:cNvPr>
          <p:cNvCxnSpPr/>
          <p:nvPr/>
        </p:nvCxnSpPr>
        <p:spPr>
          <a:xfrm>
            <a:off x="6795046" y="4957649"/>
            <a:ext cx="223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122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BDA9F2-135A-5CE8-1CF7-072A097FE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検討中の課題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136C8D5-7F9A-E4D4-339A-16BCF2598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58" y="1690689"/>
            <a:ext cx="7538484" cy="3883098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946AB6-D41A-0593-4711-A61920D89896}"/>
              </a:ext>
            </a:extLst>
          </p:cNvPr>
          <p:cNvSpPr txBox="1"/>
          <p:nvPr/>
        </p:nvSpPr>
        <p:spPr>
          <a:xfrm>
            <a:off x="802758" y="5805376"/>
            <a:ext cx="8043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0.7V</a:t>
            </a:r>
            <a:r>
              <a:rPr kumimoji="1" lang="ja-JP" altLang="en-US" dirty="0"/>
              <a:t>～</a:t>
            </a:r>
            <a:r>
              <a:rPr kumimoji="1" lang="en-US" altLang="ja-JP" dirty="0"/>
              <a:t>2.6V</a:t>
            </a:r>
            <a:r>
              <a:rPr kumimoji="1" lang="ja-JP" altLang="en-US" dirty="0"/>
              <a:t>の</a:t>
            </a:r>
            <a:r>
              <a:rPr kumimoji="1" lang="en-US" altLang="ja-JP" dirty="0"/>
              <a:t>SR</a:t>
            </a:r>
            <a:r>
              <a:rPr kumimoji="1" lang="ja-JP" altLang="en-US" dirty="0"/>
              <a:t>測定結果</a:t>
            </a:r>
            <a:endParaRPr kumimoji="1" lang="en-US" altLang="ja-JP" dirty="0"/>
          </a:p>
          <a:p>
            <a:r>
              <a:rPr kumimoji="1" lang="ja-JP" altLang="en-US" dirty="0"/>
              <a:t>・仕様では、最悪でも</a:t>
            </a:r>
            <a:r>
              <a:rPr kumimoji="1" lang="en-US" altLang="ja-JP" dirty="0"/>
              <a:t>5MSPS </a:t>
            </a:r>
            <a:r>
              <a:rPr kumimoji="1" lang="ja-JP" altLang="en-US" dirty="0"/>
              <a:t>→ </a:t>
            </a:r>
            <a:r>
              <a:rPr kumimoji="1" lang="en-US" altLang="ja-JP" dirty="0"/>
              <a:t>0.2us</a:t>
            </a:r>
            <a:r>
              <a:rPr kumimoji="1" lang="ja-JP" altLang="en-US" dirty="0"/>
              <a:t>以内に出力が安定する必要がある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25925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D7114C-808B-C3DD-833B-89B756B07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今後の課題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B37E33-5D5C-A397-E884-48245FFFA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/>
              <a:t>OPAmp</a:t>
            </a:r>
            <a:r>
              <a:rPr kumimoji="1" lang="ja-JP" altLang="en-US" dirty="0"/>
              <a:t>の</a:t>
            </a:r>
            <a:r>
              <a:rPr kumimoji="1" lang="en-US" altLang="ja-JP" dirty="0"/>
              <a:t>SR</a:t>
            </a:r>
            <a:r>
              <a:rPr kumimoji="1" lang="ja-JP" altLang="en-US" dirty="0"/>
              <a:t>向上と、出力安定性向上</a:t>
            </a:r>
            <a:endParaRPr kumimoji="1" lang="en-US" altLang="ja-JP" dirty="0"/>
          </a:p>
          <a:p>
            <a:r>
              <a:rPr lang="ja-JP" altLang="en-US" dirty="0"/>
              <a:t>レイアウト設計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16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522</Words>
  <Application>Microsoft Office PowerPoint</Application>
  <PresentationFormat>画面に合わせる (4:3)</PresentationFormat>
  <Paragraphs>98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Meiryo UI</vt:lpstr>
      <vt:lpstr>Aptos</vt:lpstr>
      <vt:lpstr>Aptos Display</vt:lpstr>
      <vt:lpstr>Arial</vt:lpstr>
      <vt:lpstr>Office テーマ</vt:lpstr>
      <vt:lpstr>アルバイト進捗報告</vt:lpstr>
      <vt:lpstr>PowerPoint プレゼンテーション</vt:lpstr>
      <vt:lpstr>進捗</vt:lpstr>
      <vt:lpstr>CDACの変更点</vt:lpstr>
      <vt:lpstr>CDACのDNL,INL評価</vt:lpstr>
      <vt:lpstr>CDAC+VFの評価</vt:lpstr>
      <vt:lpstr>VF構成(Ptop-OPAmp)</vt:lpstr>
      <vt:lpstr>評価結果</vt:lpstr>
      <vt:lpstr>検討中のOPAmp構成</vt:lpstr>
      <vt:lpstr>検討中の課題</vt:lpstr>
      <vt:lpstr>今後の課題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g2481445</dc:creator>
  <cp:lastModifiedBy>g2481445</cp:lastModifiedBy>
  <cp:revision>30</cp:revision>
  <dcterms:created xsi:type="dcterms:W3CDTF">2026-01-06T06:22:54Z</dcterms:created>
  <dcterms:modified xsi:type="dcterms:W3CDTF">2026-01-09T00:22:27Z</dcterms:modified>
</cp:coreProperties>
</file>